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404050" cx="21602700"/>
  <p:notesSz cx="6858000" cy="9144000"/>
  <p:embeddedFontLst>
    <p:embeddedFont>
      <p:font typeface="Marcellus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206">
          <p15:clr>
            <a:srgbClr val="000000"/>
          </p15:clr>
        </p15:guide>
        <p15:guide id="2" pos="6804">
          <p15:clr>
            <a:srgbClr val="000000"/>
          </p15:clr>
        </p15:guide>
      </p15:sldGuideLst>
    </p:ext>
    <p:ext uri="GoogleSlidesCustomDataVersion2">
      <go:slidesCustomData xmlns:go="http://customooxmlschemas.google.com/" r:id="rId8" roundtripDataSignature="AMtx7mgv9j1p1WcTRVaugHoblAROxnDA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206" orient="horz"/>
        <p:guide pos="68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arcellus-regular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620203" y="10066261"/>
            <a:ext cx="18362295" cy="6945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240405" y="18362295"/>
            <a:ext cx="15121890" cy="828103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rgbClr val="888888"/>
              </a:buClr>
              <a:buSzPts val="108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80135" y="7560947"/>
            <a:ext cx="19442430" cy="213851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706464" y="20822605"/>
            <a:ext cx="18362295" cy="6435804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0"/>
              <a:buFont typeface="Calibri"/>
              <a:buNone/>
              <a:defRPr b="1" sz="135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1706464" y="13734221"/>
            <a:ext cx="18362295" cy="7088384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 sz="6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100"/>
              <a:buNone/>
              <a:defRPr sz="61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88888"/>
              </a:buClr>
              <a:buSzPts val="5400"/>
              <a:buNone/>
              <a:defRPr sz="5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4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4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4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4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4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4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2550319" y="35726968"/>
            <a:ext cx="22787848" cy="101045127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831850" lvl="0" marL="45720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•"/>
              <a:defRPr sz="9500"/>
            </a:lvl1pPr>
            <a:lvl2pPr indent="-742950" lvl="1" marL="9144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–"/>
              <a:defRPr sz="8100"/>
            </a:lvl2pPr>
            <a:lvl3pPr indent="-660400" lvl="2" marL="13716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3pPr>
            <a:lvl4pPr indent="-615950" lvl="3" marL="18288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–"/>
              <a:defRPr sz="6100"/>
            </a:lvl4pPr>
            <a:lvl5pPr indent="-615950" lvl="4" marL="22860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»"/>
              <a:defRPr sz="6100"/>
            </a:lvl5pPr>
            <a:lvl6pPr indent="-615950" lvl="5" marL="2743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6pPr>
            <a:lvl7pPr indent="-615950" lvl="6" marL="32004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7pPr>
            <a:lvl8pPr indent="-615950" lvl="7" marL="36576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8pPr>
            <a:lvl9pPr indent="-615950" lvl="8" marL="41148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25698212" y="35726968"/>
            <a:ext cx="22787848" cy="101045127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831850" lvl="0" marL="45720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•"/>
              <a:defRPr sz="9500"/>
            </a:lvl1pPr>
            <a:lvl2pPr indent="-742950" lvl="1" marL="9144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–"/>
              <a:defRPr sz="8100"/>
            </a:lvl2pPr>
            <a:lvl3pPr indent="-660400" lvl="2" marL="13716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3pPr>
            <a:lvl4pPr indent="-615950" lvl="3" marL="18288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–"/>
              <a:defRPr sz="6100"/>
            </a:lvl4pPr>
            <a:lvl5pPr indent="-615950" lvl="4" marL="22860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»"/>
              <a:defRPr sz="6100"/>
            </a:lvl5pPr>
            <a:lvl6pPr indent="-615950" lvl="5" marL="2743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6pPr>
            <a:lvl7pPr indent="-615950" lvl="6" marL="32004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7pPr>
            <a:lvl8pPr indent="-615950" lvl="7" marL="36576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8pPr>
            <a:lvl9pPr indent="-615950" lvl="8" marL="41148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080135" y="7253409"/>
            <a:ext cx="9544944" cy="3022875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None/>
              <a:defRPr b="1" sz="8100"/>
            </a:lvl1pPr>
            <a:lvl2pPr indent="-228600" lvl="1" marL="9144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None/>
              <a:defRPr b="1" sz="6800"/>
            </a:lvl2pPr>
            <a:lvl3pPr indent="-228600" lvl="2" marL="13716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None/>
              <a:defRPr b="1" sz="6100"/>
            </a:lvl3pPr>
            <a:lvl4pPr indent="-228600" lvl="3" marL="1828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4pPr>
            <a:lvl5pPr indent="-228600" lvl="4" marL="22860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5pPr>
            <a:lvl6pPr indent="-228600" lvl="5" marL="27432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6pPr>
            <a:lvl7pPr indent="-228600" lvl="6" marL="32004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7pPr>
            <a:lvl8pPr indent="-228600" lvl="7" marL="3657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8pPr>
            <a:lvl9pPr indent="-228600" lvl="8" marL="4114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1080135" y="10276284"/>
            <a:ext cx="9544944" cy="18669836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742950" lvl="0" marL="4572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1pPr>
            <a:lvl2pPr indent="-660400" lvl="1" marL="9144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–"/>
              <a:defRPr sz="6800"/>
            </a:lvl2pPr>
            <a:lvl3pPr indent="-615950" lvl="2" marL="13716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3pPr>
            <a:lvl4pPr indent="-571500" lvl="3" marL="1828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–"/>
              <a:defRPr sz="5400"/>
            </a:lvl4pPr>
            <a:lvl5pPr indent="-571500" lvl="4" marL="22860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»"/>
              <a:defRPr sz="5400"/>
            </a:lvl5pPr>
            <a:lvl6pPr indent="-571500" lvl="5" marL="27432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6pPr>
            <a:lvl7pPr indent="-571500" lvl="6" marL="32004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7pPr>
            <a:lvl8pPr indent="-571500" lvl="7" marL="3657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8pPr>
            <a:lvl9pPr indent="-571500" lvl="8" marL="4114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0973873" y="7253409"/>
            <a:ext cx="9548693" cy="3022875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None/>
              <a:defRPr b="1" sz="8100"/>
            </a:lvl1pPr>
            <a:lvl2pPr indent="-228600" lvl="1" marL="9144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None/>
              <a:defRPr b="1" sz="6800"/>
            </a:lvl2pPr>
            <a:lvl3pPr indent="-228600" lvl="2" marL="13716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None/>
              <a:defRPr b="1" sz="6100"/>
            </a:lvl3pPr>
            <a:lvl4pPr indent="-228600" lvl="3" marL="1828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4pPr>
            <a:lvl5pPr indent="-228600" lvl="4" marL="22860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5pPr>
            <a:lvl6pPr indent="-228600" lvl="5" marL="27432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6pPr>
            <a:lvl7pPr indent="-228600" lvl="6" marL="32004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7pPr>
            <a:lvl8pPr indent="-228600" lvl="7" marL="3657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8pPr>
            <a:lvl9pPr indent="-228600" lvl="8" marL="4114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0973873" y="10276284"/>
            <a:ext cx="9548693" cy="18669836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742950" lvl="0" marL="4572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1pPr>
            <a:lvl2pPr indent="-660400" lvl="1" marL="9144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–"/>
              <a:defRPr sz="6800"/>
            </a:lvl2pPr>
            <a:lvl3pPr indent="-615950" lvl="2" marL="13716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3pPr>
            <a:lvl4pPr indent="-571500" lvl="3" marL="1828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–"/>
              <a:defRPr sz="5400"/>
            </a:lvl4pPr>
            <a:lvl5pPr indent="-571500" lvl="4" marL="22860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»"/>
              <a:defRPr sz="5400"/>
            </a:lvl5pPr>
            <a:lvl6pPr indent="-571500" lvl="5" marL="27432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6pPr>
            <a:lvl7pPr indent="-571500" lvl="6" marL="32004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7pPr>
            <a:lvl8pPr indent="-571500" lvl="7" marL="3657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8pPr>
            <a:lvl9pPr indent="-571500" lvl="8" marL="4114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080136" y="1290161"/>
            <a:ext cx="7107139" cy="5490686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  <a:defRPr b="1" sz="6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8446056" y="1290164"/>
            <a:ext cx="12076509" cy="27655959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914400" lvl="0" marL="45720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800"/>
              <a:buChar char="•"/>
              <a:defRPr sz="10800"/>
            </a:lvl1pPr>
            <a:lvl2pPr indent="-831850" lvl="1" marL="91440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–"/>
              <a:defRPr sz="9500"/>
            </a:lvl2pPr>
            <a:lvl3pPr indent="-742950" lvl="2" marL="13716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3pPr>
            <a:lvl4pPr indent="-660400" lvl="3" marL="18288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–"/>
              <a:defRPr sz="6800"/>
            </a:lvl4pPr>
            <a:lvl5pPr indent="-660400" lvl="4" marL="22860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»"/>
              <a:defRPr sz="6800"/>
            </a:lvl5pPr>
            <a:lvl6pPr indent="-660400" lvl="5" marL="27432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6pPr>
            <a:lvl7pPr indent="-660400" lvl="6" marL="32004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7pPr>
            <a:lvl8pPr indent="-660400" lvl="7" marL="36576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8pPr>
            <a:lvl9pPr indent="-660400" lvl="8" marL="41148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080136" y="6780850"/>
            <a:ext cx="7107139" cy="221652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1pPr>
            <a:lvl2pPr indent="-228600" lvl="1" marL="91440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 sz="4100"/>
            </a:lvl2pPr>
            <a:lvl3pPr indent="-228600" lvl="2" marL="1371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234280" y="22682835"/>
            <a:ext cx="12961620" cy="26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  <a:defRPr b="1" sz="6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4234280" y="2895362"/>
            <a:ext cx="12961620" cy="1944243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234280" y="25360672"/>
            <a:ext cx="12961620" cy="38029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1pPr>
            <a:lvl2pPr indent="-228600" lvl="1" marL="91440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 sz="4100"/>
            </a:lvl2pPr>
            <a:lvl3pPr indent="-228600" lvl="2" marL="1371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108763" y="8532320"/>
            <a:ext cx="21385175" cy="19442430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-22577819" y="65708217"/>
            <a:ext cx="130643826" cy="11483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45725712" y="54404303"/>
            <a:ext cx="130643826" cy="34091761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Calibri"/>
              <a:buNone/>
              <a:defRPr b="0" i="0" sz="1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080135" y="7560947"/>
            <a:ext cx="19442430" cy="213851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914400" lvl="0" marL="457200" marR="0" rtl="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Char char="•"/>
              <a:defRPr b="0" i="0" sz="10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1850" lvl="1" marL="9144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–"/>
              <a:defRPr b="0" i="0" sz="9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42950" lvl="2" marL="1371600" marR="0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b="0" i="0" sz="8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60400" lvl="3" marL="18288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–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60400" lvl="4" marL="22860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»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60400" lvl="5" marL="27432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60400" lvl="6" marL="32004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60400" lvl="7" marL="36576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60400" lvl="8" marL="41148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F1" Type="http://schemas.openxmlformats.org/officeDocument/2006/relationships/image" Target="../media/fig1.png"/><Relationship Id="rIdF2" Type="http://schemas.openxmlformats.org/officeDocument/2006/relationships/image" Target="../media/fig2.png"/><Relationship Id="rIdF3" Type="http://schemas.openxmlformats.org/officeDocument/2006/relationships/image" Target="../media/fig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834450" y="228925"/>
            <a:ext cx="13698300" cy="246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7800" lIns="95625" spcFirstLastPara="1" rIns="95625" wrap="square" tIns="47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53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6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J. SOMAIYA INSTITUTE OF TECHNOLOGY</a:t>
            </a:r>
            <a:endParaRPr b="1" i="0" sz="60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 Artificial Intelligence and Data Science</a:t>
            </a:r>
            <a:endParaRPr b="1" i="0" sz="40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50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66130" y="675267"/>
            <a:ext cx="1885677" cy="1399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86;p1"/>
          <p:cNvCxnSpPr/>
          <p:nvPr/>
        </p:nvCxnSpPr>
        <p:spPr>
          <a:xfrm>
            <a:off x="0" y="2980626"/>
            <a:ext cx="21602700" cy="0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" name="Google Shape;87;p1"/>
          <p:cNvSpPr txBox="1"/>
          <p:nvPr/>
        </p:nvSpPr>
        <p:spPr>
          <a:xfrm>
            <a:off x="987325" y="3267075"/>
            <a:ext cx="19670100" cy="2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800" lIns="95625" spcFirstLastPara="1" rIns="95625" wrap="square" tIns="47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4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Geospatial Query System with Natural Language Processing and GIS Integration </a:t>
            </a:r>
            <a:endParaRPr b="0" i="0" sz="60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Riddhesh Chaudhary, Arpit Balmiki, Chirayu Vyas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 Dr. Vaishali Wadhe 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8" name="Google Shape;88;p1"/>
          <p:cNvCxnSpPr/>
          <p:nvPr/>
        </p:nvCxnSpPr>
        <p:spPr>
          <a:xfrm flipH="1" rot="10800000">
            <a:off x="888175" y="5979325"/>
            <a:ext cx="19929000" cy="108000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 flipH="1" rot="10800000">
            <a:off x="10747750" y="5976875"/>
            <a:ext cx="50100" cy="25508400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p1"/>
          <p:cNvSpPr/>
          <p:nvPr/>
        </p:nvSpPr>
        <p:spPr>
          <a:xfrm>
            <a:off x="987325" y="6216575"/>
            <a:ext cx="9528300" cy="2525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0" lIns="360000" spcFirstLastPara="1" rIns="360000" wrap="square" tIns="360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Choosing where to open a business usually means weeks of manual surveys and scattered research across maps, listings and reports. This project presents a natural-language spatial intelligence platform for real estate and business site selection in Mumbai. A user asks a question in plain English, such as “safest area near a metro for a cafe”, and an LLM pipeline translates it into verified spatial SQL over a live PostGIS database of roads, points of interest, real estate listings, crime zones and transit stops. The answer is returned as an interactive map with a short explanation, the generated SQL and a data-grounded budget estimate, turning a multi-week survey into a single instant query.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GIS tools demand expertise in spatial data, SQL and specialised software, which keeps location intelligence out of reach for most businesses. Recent work on LLM-based GIS and spatial Text-to-SQL (LLM-Geo, NALSpatial, GS-SQL, GeoLLM) is promising, but still lacks query testing and logging, depends on predefined mapping rules, and struggles with multi-entity spatial reasoning and distance errors. Our system addresses these gaps with schema-grounded intent parsing, multi-step query planning, metre-accurate distance handling and a validation loop before execution, all grounded in real city data.</a:t>
            </a:r>
          </a:p>
          <a:p>
            <a:pPr indent="0" lvl="0" marL="0" marR="0" rtl="0" algn="just">
              <a:lnSpc>
                <a:spcPts val="35151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sz="2000"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1: Natural-language query interface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indent="-4064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site selection so businesses can find and evaluate new locations without manual survey work.</a:t>
            </a:r>
          </a:p>
          <a:p>
            <a:pPr indent="-4064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automatic, data-grounded cost estimates (rent, setup, licenses) for any chosen spot.</a:t>
            </a:r>
          </a:p>
          <a:p>
            <a:pPr indent="-4064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locations side by side on nearby comparables, footfall, amenity density, safety and transit access.</a:t>
            </a:r>
          </a:p>
          <a:p>
            <a:pPr indent="-4064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scattered research across sources with a single natural-language query.</a:t>
            </a:r>
          </a:p>
          <a:p>
            <a:pPr indent="-4064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time and cost with instant, grounded answers instead of weeks of on-ground survey.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Acknowledgement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research work is supported by K. J. Somaiya Institute of Technology.</a:t>
            </a:r>
          </a:p>
        </p:txBody>
      </p:sp>
      <p:pic>
        <p:nvPicPr>
          <p:cNvPr descr="C:\Users\Admin\Desktop\Red Rect.png"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87579" y="31485975"/>
            <a:ext cx="9003549" cy="91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dmin\Desktop\Red Rect.png"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19027025" y="29808625"/>
            <a:ext cx="4300800" cy="85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dmin\Desktop\Orange rect.png" id="93" name="Google Shape;9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55477" y="31486163"/>
            <a:ext cx="1170947" cy="91746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/>
          <p:nvPr/>
        </p:nvSpPr>
        <p:spPr>
          <a:xfrm>
            <a:off x="11264600" y="6218050"/>
            <a:ext cx="9528300" cy="2525107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0" lIns="360000" spcFirstLastPara="1" rIns="360000" wrap="square" tIns="360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FastAPI backend receives the plain-English query and passes it to an LLM pipeline that classifies intent, grounds it in the database schema, plans the query and generates spatial SQL. The SQL runs on a PostGIS database, and a validation and correction loop re-plans any query that fails or returns empty results. Validated results are converted to GeoJSON and rendered on an interactive MapLibre map.</a:t>
            </a:r>
          </a:p>
          <a:p>
            <a:pPr indent="0" lvl="0" marL="0" marR="0" rtl="0" algn="just">
              <a:lnSpc>
                <a:spcPts val="34481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sz="2000"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2: Proposed Methodology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and Discussion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runs on live Mumbai data: 48 administrative boundaries, 16,800+ road segments, 10,800+ points of interest, 55,600+ real estate listings, 2,200+ transit stops and 40 crime-safety zones. Answers arrive in seconds with a map, an explanation and the SQL behind them. In evaluation, it estimated about ₹62 lakh to open a café in Bandra and about ₹1.3 crore for a premium restaurant in Lower Parel.</a:t>
            </a:r>
          </a:p>
          <a:p>
            <a:pPr indent="0" lvl="0" marL="0" marR="0" rtl="0" algn="just">
              <a:lnSpc>
                <a:spcPts val="28294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sz="2000"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3: Map-based answer with area statistics and budget estimate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Natural-language spatial intelligence makes location decisions accessible to businesses without GIS or data teams. One verifiable query interface replaces weeks of scattered research, and the city-agnostic design allows extension well beyond Mumbai.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A. K. Kazazi, Z. Li, M. N. Lessani, and G. Cervone, “From Questions to Queries: An AI-powered Multi-Agent Framework for Spatial Text-to-SQL,”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2025.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X. Zhang, F. Xiao, L. Yan, and Z. Zhang, “GS-SQL: Modeling Spatial Semantics in Spatial Text-to-SQL,”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IJCNN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2024.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J. Malczewski, “GIS-based multicriteria decision analysis: a survey of the literature,”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Int. J. Geographical Information Science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20, no. 7, pp. 703–726, 2006.</a:t>
            </a: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Felt, “Felt AI: AI-powered GIS and mapping platform,” Felt Help Center, 2025. [Online]. Available: https://help.felt.com/felt-ai</a:t>
            </a:r>
          </a:p>
        </p:txBody>
      </p:sp>
      <p:sp>
        <p:nvSpPr>
          <p:cNvPr id="96" name="Google Shape;96;p1"/>
          <p:cNvSpPr txBox="1"/>
          <p:nvPr/>
        </p:nvSpPr>
        <p:spPr>
          <a:xfrm>
            <a:off x="39173775" y="6642000"/>
            <a:ext cx="21695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0"/>
              <a:buFont typeface="Arial"/>
              <a:buNone/>
            </a:pPr>
            <a:r>
              <a:t/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0253" y="675275"/>
            <a:ext cx="4124066" cy="13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Figure 1" descr="Figure 1"/>
          <p:cNvPicPr>
            <a:picLocks noChangeAspect="1"/>
          </p:cNvPicPr>
          <p:nvPr/>
        </p:nvPicPr>
        <p:blipFill>
          <a:blip r:embed="rIdF1"/>
          <a:stretch>
            <a:fillRect/>
          </a:stretch>
        </p:blipFill>
        <p:spPr>
          <a:xfrm>
            <a:off x="2228155" y="16853673"/>
            <a:ext cx="7046640" cy="44135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pic>
        <p:nvPicPr>
          <p:cNvPr id="201" name="Figure 2" descr="Figure 2"/>
          <p:cNvPicPr>
            <a:picLocks noChangeAspect="1"/>
          </p:cNvPicPr>
          <p:nvPr/>
        </p:nvPicPr>
        <p:blipFill>
          <a:blip r:embed="rIdF2"/>
          <a:stretch>
            <a:fillRect/>
          </a:stretch>
        </p:blipFill>
        <p:spPr>
          <a:xfrm>
            <a:off x="11624600" y="10269754"/>
            <a:ext cx="8808300" cy="4328402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pic>
        <p:nvPicPr>
          <p:cNvPr id="202" name="Figure 3" descr="Figure 3"/>
          <p:cNvPicPr>
            <a:picLocks noChangeAspect="1"/>
          </p:cNvPicPr>
          <p:nvPr/>
        </p:nvPicPr>
        <p:blipFill>
          <a:blip r:embed="rIdF3"/>
          <a:stretch>
            <a:fillRect/>
          </a:stretch>
        </p:blipFill>
        <p:spPr>
          <a:xfrm>
            <a:off x="12945845" y="18881557"/>
            <a:ext cx="6165810" cy="3542653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