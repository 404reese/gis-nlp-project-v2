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1.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2"/>
  </p:notesMasterIdLst>
  <p:handoutMasterIdLst>
    <p:handoutMasterId r:id="rId23"/>
  </p:handoutMasterIdLst>
  <p:sldIdLst>
    <p:sldId id="256" r:id="rId2"/>
    <p:sldId id="257" r:id="rId3"/>
    <p:sldId id="258" r:id="rId4"/>
    <p:sldId id="260" r:id="rId5"/>
    <p:sldId id="262" r:id="rId6"/>
    <p:sldId id="281" r:id="rId28"/>
    <p:sldId id="263" r:id="rId7"/>
    <p:sldId id="259" r:id="rId8"/>
    <p:sldId id="266" r:id="rId9"/>
    <p:sldId id="268" r:id="rId10"/>
    <p:sldId id="279" r:id="rId11"/>
    <p:sldId id="264" r:id="rId12"/>
    <p:sldId id="278" r:id="rId13"/>
    <p:sldId id="275" r:id="rId14"/>
    <p:sldId id="276" r:id="rId15"/>
    <p:sldId id="277" r:id="rId16"/>
    <p:sldId id="270" r:id="rId17"/>
    <p:sldId id="271" r:id="rId18"/>
    <p:sldId id="280" r:id="rId19"/>
    <p:sldId id="273" r:id="rId20"/>
    <p:sldId id="274"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CC88459-E5D0-4755-9FAC-F6AFB1E2B481}">
  <a:tblStyle styleId="{9CC88459-E5D0-4755-9FAC-F6AFB1E2B48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92668" autoAdjust="0"/>
  </p:normalViewPr>
  <p:slideViewPr>
    <p:cSldViewPr snapToGrid="0">
      <p:cViewPr varScale="1">
        <p:scale>
          <a:sx n="116" d="100"/>
          <a:sy n="116" d="100"/>
        </p:scale>
        <p:origin x="504"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  <Relationship Id="rId28" Type="http://schemas.openxmlformats.org/officeDocument/2006/relationships/slide" Target="slides/slide21.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IN"/>
              <a:t>Title of Project</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B35CFAD-E8E8-49C7-998E-4105CEA49942}" type="datetimeFigureOut">
              <a:rPr lang="en-IN" smtClean="0"/>
              <a:t>23-09-2026</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EF65C52-C642-42A5-8124-32809F5DE6EC}" type="slidenum">
              <a:rPr lang="en-IN" smtClean="0"/>
              <a:t>‹#›</a:t>
            </a:fld>
            <a:endParaRPr lang="en-IN"/>
          </a:p>
        </p:txBody>
      </p:sp>
    </p:spTree>
    <p:extLst>
      <p:ext uri="{BB962C8B-B14F-4D97-AF65-F5344CB8AC3E}">
        <p14:creationId xmlns:p14="http://schemas.microsoft.com/office/powerpoint/2010/main" val="666480425"/>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145214731"/>
      </p:ext>
    </p:extLst>
  </p:cSld>
  <p:clrMap bg1="lt1" tx1="dk1" bg2="dk2" tx2="lt2" accent1="accent1" accent2="accent2" accent3="accent3" accent4="accent4" accent5="accent5" accent6="accent6" hlink="hlink" folHlink="folHlink"/>
  <p:hf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BFE87658-28FB-0333-3380-236E5AF5F3C2}"/>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67C2A337-14CE-F1B9-C064-1EDC1B45C2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E5709455-D109-9C24-4BBE-4782E76FE9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68361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E708FDC2-76B7-5988-F381-98B971D3893C}"/>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EC7EF61F-0BC9-7791-7AF4-1A86D428A8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165CBFDF-6A8D-C56E-BF53-C2E7607B5A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195382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F1A9E91A-6D69-5372-2B9C-5E9185774354}"/>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57EB416F-A731-EB00-D49C-CEC7F1F7C1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A398D7A0-4B48-6D5B-5EEF-02D8155A5B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457142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E7306FC8-1431-DEAF-BB4D-305F692BED41}"/>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10DC07D6-28DF-075E-B89B-C830E9C753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095052B8-44D9-58B7-45F9-DE4A650919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592262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702A1A67-94D2-5A53-EC4E-B2DDC101C518}"/>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F58889C9-4F38-AF6F-B80F-7BF7BD7460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61D12C31-7DA5-F08E-28A3-0DB5702064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64104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8FC6E4CE-204E-779D-E677-70290A037452}"/>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3FBB273B-7FBD-0C58-CA92-1CDAD368B2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F9D3ED8E-C13A-B0F6-2D7B-F8D764D59A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474495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732B54D9-4C68-EA7D-0071-00C1E7A44FD8}"/>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F9046807-182A-9E29-71D7-4E4B3E3478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F89183F3-91A0-9C37-B7F5-5345F29154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03949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F0708628-0B71-BC2F-7B20-C7D626222E87}"/>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2858C6AE-38DC-4A65-9FF5-7927D8B75A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6B5A1362-F200-2485-E584-96B9F90234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51747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55462AB0-4B7B-DD55-D7A2-A1F240A14EA5}"/>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EBBADCB9-1242-E8FD-F770-D814CFF763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9917C1BE-9515-2241-4F52-51667A5126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94558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C29A28AC-DA59-5B4F-8967-6C618FE9BD99}"/>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E31351D8-E221-B90E-F018-5C935FACE4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611B538D-B842-B932-3FD6-AFDA0A7F21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943696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48E98231-60E3-E5CA-9B67-9200E1BDFB4C}"/>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7216A902-86B5-1555-07B4-587FCE86D5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FCD6DE59-E6C0-F7D4-13E1-4826CF556F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357450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11C46B4E-4D72-6B01-CDC6-526B53308FDD}"/>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0A41F5A7-BA62-AEE5-B9AF-0A46B98760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33AAA8BD-695F-2B07-B4FF-CCCE30F716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48305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E26C8859-012F-BF57-C51B-A56491E6624B}"/>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B45BD9BD-C5F7-1BE2-4A7A-FCFD2DDD6B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B86DB0B6-CFC9-0F85-C168-CF5845771D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818633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A391788E-58C9-C92D-0A37-677E0CDD0612}"/>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5E9B203B-8529-4A00-9B03-F86E6A7336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BDF14423-C461-054C-1ADD-1D0505BCF1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57604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3" r:id="rId3"/>
    <p:sldLayoutId id="2147483654" r:id="rId4"/>
    <p:sldLayoutId id="2147483655" r:id="rId5"/>
    <p:sldLayoutId id="2147483656" r:id="rId6"/>
    <p:sldLayoutId id="2147483657" r:id="rId7"/>
    <p:sldLayoutId id="2147483658"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hyperlink" Target="https://arxiv.org/abs/2510.21045" TargetMode="External"/><Relationship Id="rId4" Type="http://schemas.openxmlformats.org/officeDocument/2006/relationships/hyperlink" Target="https://www.tandfonline.com/doi/full/10.1080/17538947.2023.2278895"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arxiv.org/abs/2510.21045" TargetMode="External"/><Relationship Id="rId7" Type="http://schemas.openxmlformats.org/officeDocument/2006/relationships/image" Target="../media/image2.png"/><Relationship Id="rId2" Type="http://schemas.openxmlformats.org/officeDocument/2006/relationships/hyperlink" Target="https://www.tandfonline.com/doi/full/10.1080/17538947.2023.2278895" TargetMode="External"/><Relationship Id="rId1" Type="http://schemas.openxmlformats.org/officeDocument/2006/relationships/slideLayout" Target="../slideLayouts/slideLayout8.xml"/><Relationship Id="rId6" Type="http://schemas.openxmlformats.org/officeDocument/2006/relationships/hyperlink" Target="https://arxiv.org/abs/2310.06213" TargetMode="External"/><Relationship Id="rId5" Type="http://schemas.openxmlformats.org/officeDocument/2006/relationships/hyperlink" Target="https://ieeexplore.ieee.org/document/10651125" TargetMode="External"/><Relationship Id="rId4" Type="http://schemas.openxmlformats.org/officeDocument/2006/relationships/hyperlink" Target="https://ieeexplore.ieee.org/document/10824870"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1.png"/><Relationship Id="rId7" Type="http://schemas.openxmlformats.org/officeDocument/2006/relationships/image" Target="../media/image9.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9" name="Google Shape;59;p13"/>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latin typeface="Times New Roman"/>
                <a:ea typeface="Times New Roman"/>
                <a:cs typeface="Times New Roman"/>
                <a:sym typeface="Times New Roman"/>
              </a:rPr>
              <a:t>                     Department of AI-DS, K J Somaiya Institute of Technology, Sion, Mumbai</a:t>
            </a:r>
            <a:endParaRPr sz="900" dirty="0">
              <a:latin typeface="Times New Roman"/>
              <a:ea typeface="Times New Roman"/>
              <a:cs typeface="Times New Roman"/>
              <a:sym typeface="Times New Roman"/>
            </a:endParaRPr>
          </a:p>
        </p:txBody>
      </p:sp>
      <p:sp>
        <p:nvSpPr>
          <p:cNvPr id="60" name="Google Shape;60;p13"/>
          <p:cNvSpPr txBox="1"/>
          <p:nvPr/>
        </p:nvSpPr>
        <p:spPr>
          <a:xfrm>
            <a:off x="1037275" y="1245476"/>
            <a:ext cx="7129800" cy="132627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None/>
            </a:pPr>
            <a:endParaRPr sz="600" b="1" dirty="0">
              <a:solidFill>
                <a:srgbClr val="1F3864"/>
              </a:solidFill>
            </a:endParaRPr>
          </a:p>
          <a:p>
            <a:pPr marL="0" lvl="0" indent="0" algn="ctr" rtl="0">
              <a:lnSpc>
                <a:spcPct val="100000"/>
              </a:lnSpc>
              <a:spcBef>
                <a:spcPts val="0"/>
              </a:spcBef>
              <a:spcAft>
                <a:spcPts val="0"/>
              </a:spcAft>
              <a:buNone/>
            </a:pPr>
            <a:r>
              <a:rPr lang="en" sz="1675" b="1" dirty="0">
                <a:solidFill>
                  <a:srgbClr val="1F3864"/>
                </a:solidFill>
                <a:latin typeface="Times New Roman"/>
                <a:ea typeface="Times New Roman"/>
                <a:cs typeface="Times New Roman"/>
                <a:sym typeface="Times New Roman"/>
              </a:rPr>
              <a:t>L.Y. Project Presentation</a:t>
            </a:r>
            <a:endParaRPr sz="2508" dirty="0">
              <a:solidFill>
                <a:srgbClr val="000000"/>
              </a:solidFill>
              <a:latin typeface="Times New Roman"/>
              <a:ea typeface="Times New Roman"/>
              <a:cs typeface="Times New Roman"/>
              <a:sym typeface="Times New Roman"/>
            </a:endParaRPr>
          </a:p>
          <a:p>
            <a:pPr marL="0" lvl="0" indent="0" algn="ctr" rtl="0">
              <a:lnSpc>
                <a:spcPct val="100000"/>
              </a:lnSpc>
              <a:spcBef>
                <a:spcPts val="0"/>
              </a:spcBef>
              <a:spcAft>
                <a:spcPts val="0"/>
              </a:spcAft>
              <a:buNone/>
            </a:pPr>
            <a:r>
              <a:rPr lang="en" sz="1859" b="1" dirty="0">
                <a:solidFill>
                  <a:srgbClr val="C00000"/>
                </a:solidFill>
                <a:latin typeface="Times New Roman"/>
                <a:ea typeface="Times New Roman"/>
                <a:cs typeface="Times New Roman"/>
                <a:sym typeface="Times New Roman"/>
              </a:rPr>
              <a:t>“</a:t>
            </a:r>
            <a:r>
              <a:rPr lang="en-US" sz="1859" b="1" dirty="0">
                <a:solidFill>
                  <a:srgbClr val="C00000"/>
                </a:solidFill>
                <a:latin typeface="Times New Roman"/>
                <a:ea typeface="Times New Roman"/>
                <a:cs typeface="Times New Roman"/>
                <a:sym typeface="Times New Roman"/>
              </a:rPr>
              <a:t>Geospatial Query System with Natural Language Processing and Geographic Information System Integration </a:t>
            </a:r>
            <a:r>
              <a:rPr lang="en" sz="1859" b="1" dirty="0">
                <a:solidFill>
                  <a:srgbClr val="C00000"/>
                </a:solidFill>
                <a:latin typeface="Times New Roman"/>
                <a:ea typeface="Times New Roman"/>
                <a:cs typeface="Times New Roman"/>
                <a:sym typeface="Times New Roman"/>
              </a:rPr>
              <a:t>”</a:t>
            </a:r>
            <a:endParaRPr sz="1259" b="1" dirty="0">
              <a:solidFill>
                <a:srgbClr val="58595B"/>
              </a:solidFill>
              <a:latin typeface="Times New Roman"/>
              <a:ea typeface="Times New Roman"/>
              <a:cs typeface="Times New Roman"/>
              <a:sym typeface="Times New Roman"/>
            </a:endParaRPr>
          </a:p>
          <a:p>
            <a:pPr marL="0" lvl="0" indent="0" algn="ctr" rtl="0">
              <a:lnSpc>
                <a:spcPct val="100000"/>
              </a:lnSpc>
              <a:spcBef>
                <a:spcPts val="0"/>
              </a:spcBef>
              <a:spcAft>
                <a:spcPts val="0"/>
              </a:spcAft>
              <a:buNone/>
            </a:pPr>
            <a:endParaRPr sz="1007" dirty="0">
              <a:solidFill>
                <a:srgbClr val="000000"/>
              </a:solidFill>
            </a:endParaRPr>
          </a:p>
        </p:txBody>
      </p:sp>
      <p:sp>
        <p:nvSpPr>
          <p:cNvPr id="61" name="Google Shape;61;p13"/>
          <p:cNvSpPr txBox="1"/>
          <p:nvPr/>
        </p:nvSpPr>
        <p:spPr>
          <a:xfrm>
            <a:off x="2499175" y="3345275"/>
            <a:ext cx="4206000"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800" dirty="0">
                <a:solidFill>
                  <a:schemeClr val="dk1"/>
                </a:solidFill>
                <a:latin typeface="Times New Roman"/>
                <a:ea typeface="Times New Roman"/>
                <a:cs typeface="Times New Roman"/>
                <a:sym typeface="Times New Roman"/>
              </a:rPr>
              <a:t>Riddhesh Chaudhary (L.Y. A-14) </a:t>
            </a:r>
            <a:endParaRPr dirty="0">
              <a:solidFill>
                <a:schemeClr val="dk1"/>
              </a:solidFill>
              <a:latin typeface="Times New Roman"/>
              <a:ea typeface="Times New Roman"/>
              <a:cs typeface="Times New Roman"/>
              <a:sym typeface="Times New Roman"/>
            </a:endParaRPr>
          </a:p>
          <a:p>
            <a:pPr algn="ctr"/>
            <a:r>
              <a:rPr lang="en-US" sz="1800" dirty="0">
                <a:solidFill>
                  <a:schemeClr val="dk1"/>
                </a:solidFill>
                <a:latin typeface="Times New Roman"/>
                <a:cs typeface="Times New Roman"/>
              </a:rPr>
              <a:t>Arpit Balmiki (L.Y. A-06)</a:t>
            </a:r>
            <a:br>
              <a:rPr lang="en-US" sz="1800" dirty="0">
                <a:solidFill>
                  <a:schemeClr val="dk1"/>
                </a:solidFill>
                <a:latin typeface="Times New Roman"/>
                <a:cs typeface="Times New Roman"/>
              </a:rPr>
            </a:br>
            <a:r>
              <a:rPr lang="en-US" sz="1800" dirty="0">
                <a:solidFill>
                  <a:schemeClr val="dk1"/>
                </a:solidFill>
                <a:latin typeface="Times New Roman"/>
                <a:cs typeface="Times New Roman"/>
              </a:rPr>
              <a:t>Chirayu Vyas (L.Y. B-63)</a:t>
            </a:r>
            <a:endParaRPr sz="1800" dirty="0">
              <a:solidFill>
                <a:schemeClr val="dk1"/>
              </a:solidFill>
              <a:latin typeface="Times New Roman"/>
              <a:cs typeface="Times New Roman"/>
              <a:sym typeface="Times New Roman"/>
            </a:endParaRPr>
          </a:p>
        </p:txBody>
      </p:sp>
      <p:sp>
        <p:nvSpPr>
          <p:cNvPr id="62" name="Google Shape;62;p13"/>
          <p:cNvSpPr txBox="1"/>
          <p:nvPr/>
        </p:nvSpPr>
        <p:spPr>
          <a:xfrm>
            <a:off x="2808910" y="2541959"/>
            <a:ext cx="3586530"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800" b="1" dirty="0">
                <a:solidFill>
                  <a:srgbClr val="262626"/>
                </a:solidFill>
                <a:latin typeface="Times New Roman"/>
                <a:ea typeface="Times New Roman"/>
                <a:cs typeface="Times New Roman"/>
                <a:sym typeface="Times New Roman"/>
              </a:rPr>
              <a:t>Guide Name : </a:t>
            </a:r>
            <a:r>
              <a:rPr lang="en-IN" sz="1800" b="1" dirty="0">
                <a:solidFill>
                  <a:srgbClr val="262626"/>
                </a:solidFill>
                <a:latin typeface="Times New Roman"/>
                <a:ea typeface="Times New Roman"/>
                <a:cs typeface="Times New Roman"/>
                <a:sym typeface="Times New Roman"/>
              </a:rPr>
              <a:t>Dr. Vaishali Wadhe</a:t>
            </a:r>
            <a:endParaRPr sz="1800" b="1" dirty="0">
              <a:solidFill>
                <a:srgbClr val="262626"/>
              </a:solidFill>
              <a:latin typeface="Times New Roman"/>
              <a:ea typeface="Times New Roman"/>
              <a:cs typeface="Times New Roman"/>
              <a:sym typeface="Times New Roman"/>
            </a:endParaRPr>
          </a:p>
          <a:p>
            <a:pPr marL="0" marR="0" lvl="0" indent="0" algn="ctr" rtl="0">
              <a:spcBef>
                <a:spcPts val="0"/>
              </a:spcBef>
              <a:spcAft>
                <a:spcPts val="0"/>
              </a:spcAft>
              <a:buNone/>
            </a:pPr>
            <a:r>
              <a:rPr lang="en" sz="1800" b="1" dirty="0">
                <a:solidFill>
                  <a:srgbClr val="262626"/>
                </a:solidFill>
                <a:latin typeface="Times New Roman"/>
                <a:ea typeface="Times New Roman"/>
                <a:cs typeface="Times New Roman"/>
                <a:sym typeface="Times New Roman"/>
              </a:rPr>
              <a:t>Group No : 1</a:t>
            </a:r>
            <a:endParaRPr sz="1800"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F20D57B-CB82-4E2B-9752-2D88FE940155}"/>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pic>
        <p:nvPicPr>
          <p:cNvPr id="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3999"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Google Shape;97;p1"/>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2" name="TextBox 1">
            <a:extLst>
              <a:ext uri="{FF2B5EF4-FFF2-40B4-BE49-F238E27FC236}">
                <a16:creationId xmlns:a16="http://schemas.microsoft.com/office/drawing/2014/main" id="{CF20D57B-CB82-4E2B-9752-2D88FE940155}"/>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3999"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8" name="Table 7"/>
          <p:cNvGraphicFramePr>
            <a:graphicFrameLocks noGrp="1"/>
          </p:cNvGraphicFramePr>
          <p:nvPr>
            <p:extLst>
              <p:ext uri="{D42A27DB-BD31-4B8C-83A1-F6EECF244321}">
                <p14:modId xmlns:p14="http://schemas.microsoft.com/office/powerpoint/2010/main" val="4281682387"/>
              </p:ext>
            </p:extLst>
          </p:nvPr>
        </p:nvGraphicFramePr>
        <p:xfrm>
          <a:off x="2038349" y="1555352"/>
          <a:ext cx="5362575" cy="2600476"/>
        </p:xfrm>
        <a:graphic>
          <a:graphicData uri="http://schemas.openxmlformats.org/drawingml/2006/table">
            <a:tbl>
              <a:tblPr bandRow="1">
                <a:tableStyleId>{9CC88459-E5D0-4755-9FAC-F6AFB1E2B481}</a:tableStyleId>
              </a:tblPr>
              <a:tblGrid>
                <a:gridCol w="1012613">
                  <a:extLst>
                    <a:ext uri="{9D8B030D-6E8A-4147-A177-3AD203B41FA5}">
                      <a16:colId xmlns:a16="http://schemas.microsoft.com/office/drawing/2014/main" val="20000"/>
                    </a:ext>
                  </a:extLst>
                </a:gridCol>
                <a:gridCol w="4349962">
                  <a:extLst>
                    <a:ext uri="{9D8B030D-6E8A-4147-A177-3AD203B41FA5}">
                      <a16:colId xmlns:a16="http://schemas.microsoft.com/office/drawing/2014/main" val="20001"/>
                    </a:ext>
                  </a:extLst>
                </a:gridCol>
              </a:tblGrid>
              <a:tr h="314325">
                <a:tc>
                  <a:txBody>
                    <a:bodyPr/>
                    <a:lstStyle/>
                    <a:p>
                      <a:pPr algn="ctr">
                        <a:lnSpc>
                          <a:spcPct val="115000"/>
                        </a:lnSpc>
                        <a:spcAft>
                          <a:spcPts val="0"/>
                        </a:spcAft>
                      </a:pPr>
                      <a:r>
                        <a:rPr lang="en-IN" sz="1100" b="1" dirty="0">
                          <a:effectLst/>
                          <a:latin typeface="Times New Roman" pitchFamily="18" charset="0"/>
                          <a:cs typeface="Times New Roman" pitchFamily="18" charset="0"/>
                        </a:rPr>
                        <a:t>Sr. No.</a:t>
                      </a:r>
                      <a:endParaRPr lang="en-IN" sz="1100" b="1" dirty="0">
                        <a:effectLst/>
                        <a:latin typeface="Times New Roman" pitchFamily="18" charset="0"/>
                        <a:ea typeface="Arial"/>
                        <a:cs typeface="Times New Roman" pitchFamily="18" charset="0"/>
                      </a:endParaRPr>
                    </a:p>
                  </a:txBody>
                  <a:tcPr marL="68580" marR="68580" marT="0" marB="0" anchor="ctr"/>
                </a:tc>
                <a:tc>
                  <a:txBody>
                    <a:bodyPr/>
                    <a:lstStyle/>
                    <a:p>
                      <a:pPr algn="ctr">
                        <a:lnSpc>
                          <a:spcPct val="115000"/>
                        </a:lnSpc>
                        <a:spcAft>
                          <a:spcPts val="0"/>
                        </a:spcAft>
                      </a:pPr>
                      <a:r>
                        <a:rPr lang="en-IN" sz="1100" b="1" dirty="0">
                          <a:effectLst/>
                          <a:latin typeface="Times New Roman" pitchFamily="18" charset="0"/>
                          <a:cs typeface="Times New Roman" pitchFamily="18" charset="0"/>
                        </a:rPr>
                        <a:t> Content</a:t>
                      </a:r>
                      <a:endParaRPr lang="en-IN" sz="1100" b="1" dirty="0">
                        <a:effectLst/>
                        <a:latin typeface="Times New Roman" pitchFamily="18" charset="0"/>
                        <a:ea typeface="Arial"/>
                        <a:cs typeface="Times New Roman" pitchFamily="18" charset="0"/>
                      </a:endParaRPr>
                    </a:p>
                  </a:txBody>
                  <a:tcPr marL="68580" marR="68580" marT="0" marB="0" anchor="ctr"/>
                </a:tc>
                <a:extLst>
                  <a:ext uri="{0D108BD9-81ED-4DB2-BD59-A6C34878D82A}">
                    <a16:rowId xmlns:a16="http://schemas.microsoft.com/office/drawing/2014/main" val="10000"/>
                  </a:ext>
                </a:extLst>
              </a:tr>
              <a:tr h="188342">
                <a:tc>
                  <a:txBody>
                    <a:bodyPr/>
                    <a:lstStyle/>
                    <a:p>
                      <a:pPr algn="ctr">
                        <a:lnSpc>
                          <a:spcPct val="115000"/>
                        </a:lnSpc>
                        <a:spcAft>
                          <a:spcPts val="0"/>
                        </a:spcAft>
                      </a:pPr>
                      <a:r>
                        <a:rPr lang="en-IN" sz="1100" dirty="0">
                          <a:effectLst/>
                          <a:latin typeface="Times New Roman" pitchFamily="18" charset="0"/>
                          <a:cs typeface="Times New Roman" pitchFamily="18" charset="0"/>
                        </a:rPr>
                        <a:t>1.</a:t>
                      </a:r>
                      <a:endParaRPr lang="en-IN" sz="1100" dirty="0">
                        <a:effectLst/>
                        <a:latin typeface="Times New Roman" pitchFamily="18" charset="0"/>
                        <a:ea typeface="Arial"/>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1100" dirty="0">
                          <a:latin typeface="Times New Roman" pitchFamily="18" charset="0"/>
                          <a:cs typeface="Times New Roman" pitchFamily="18" charset="0"/>
                        </a:rPr>
                        <a:t>Introduction</a:t>
                      </a:r>
                    </a:p>
                  </a:txBody>
                  <a:tcPr marL="68580" marR="68580" marT="0" marB="0"/>
                </a:tc>
                <a:extLst>
                  <a:ext uri="{0D108BD9-81ED-4DB2-BD59-A6C34878D82A}">
                    <a16:rowId xmlns:a16="http://schemas.microsoft.com/office/drawing/2014/main" val="10001"/>
                  </a:ext>
                </a:extLst>
              </a:tr>
              <a:tr h="188342">
                <a:tc>
                  <a:txBody>
                    <a:bodyPr/>
                    <a:lstStyle/>
                    <a:p>
                      <a:pPr algn="ctr">
                        <a:lnSpc>
                          <a:spcPct val="115000"/>
                        </a:lnSpc>
                        <a:spcAft>
                          <a:spcPts val="0"/>
                        </a:spcAft>
                      </a:pPr>
                      <a:r>
                        <a:rPr lang="en-IN" sz="1100" dirty="0">
                          <a:effectLst/>
                          <a:latin typeface="Times New Roman" pitchFamily="18" charset="0"/>
                          <a:cs typeface="Times New Roman" pitchFamily="18" charset="0"/>
                        </a:rPr>
                        <a:t>2.</a:t>
                      </a:r>
                      <a:endParaRPr lang="en-IN" sz="1100" dirty="0">
                        <a:effectLst/>
                        <a:latin typeface="Times New Roman" pitchFamily="18" charset="0"/>
                        <a:ea typeface="Arial"/>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1100" dirty="0">
                          <a:latin typeface="Times New Roman" pitchFamily="18" charset="0"/>
                          <a:cs typeface="Times New Roman" pitchFamily="18" charset="0"/>
                        </a:rPr>
                        <a:t>Literature Survey</a:t>
                      </a:r>
                    </a:p>
                  </a:txBody>
                  <a:tcPr marL="68580" marR="68580" marT="0" marB="0"/>
                </a:tc>
                <a:extLst>
                  <a:ext uri="{0D108BD9-81ED-4DB2-BD59-A6C34878D82A}">
                    <a16:rowId xmlns:a16="http://schemas.microsoft.com/office/drawing/2014/main" val="10002"/>
                  </a:ext>
                </a:extLst>
              </a:tr>
              <a:tr h="214389">
                <a:tc>
                  <a:txBody>
                    <a:bodyPr/>
                    <a:lstStyle/>
                    <a:p>
                      <a:pPr algn="ctr">
                        <a:lnSpc>
                          <a:spcPct val="115000"/>
                        </a:lnSpc>
                        <a:spcAft>
                          <a:spcPts val="0"/>
                        </a:spcAft>
                      </a:pPr>
                      <a:r>
                        <a:rPr lang="en-IN" sz="1100" dirty="0">
                          <a:effectLst/>
                          <a:latin typeface="Times New Roman" pitchFamily="18" charset="0"/>
                          <a:ea typeface="Arial"/>
                          <a:cs typeface="Times New Roman" pitchFamily="18" charset="0"/>
                        </a:rPr>
                        <a:t>3.</a:t>
                      </a:r>
                    </a:p>
                  </a:txBody>
                  <a:tcPr marL="68580" marR="68580" marT="0" marB="0" anchor="ctr"/>
                </a:tc>
                <a:tc>
                  <a:txBody>
                    <a:bodyPr/>
                    <a:lstStyle/>
                    <a:p>
                      <a:r>
                        <a:rPr lang="en-US" sz="1100" dirty="0">
                          <a:latin typeface="Times New Roman" pitchFamily="18" charset="0"/>
                          <a:cs typeface="Times New Roman" pitchFamily="18" charset="0"/>
                        </a:rPr>
                        <a:t>Time Plan</a:t>
                      </a:r>
                    </a:p>
                  </a:txBody>
                  <a:tcPr marL="68580" marR="68580" marT="0" marB="0"/>
                </a:tc>
                <a:extLst>
                  <a:ext uri="{0D108BD9-81ED-4DB2-BD59-A6C34878D82A}">
                    <a16:rowId xmlns:a16="http://schemas.microsoft.com/office/drawing/2014/main" val="10003"/>
                  </a:ext>
                </a:extLst>
              </a:tr>
              <a:tr h="188342">
                <a:tc>
                  <a:txBody>
                    <a:bodyPr/>
                    <a:lstStyle/>
                    <a:p>
                      <a:pPr algn="ctr">
                        <a:lnSpc>
                          <a:spcPct val="115000"/>
                        </a:lnSpc>
                        <a:spcAft>
                          <a:spcPts val="0"/>
                        </a:spcAft>
                      </a:pPr>
                      <a:r>
                        <a:rPr lang="en-IN" sz="1100" dirty="0">
                          <a:effectLst/>
                          <a:latin typeface="Times New Roman" pitchFamily="18" charset="0"/>
                          <a:ea typeface="Arial"/>
                          <a:cs typeface="Times New Roman" pitchFamily="18" charset="0"/>
                        </a:rPr>
                        <a:t>4.</a:t>
                      </a:r>
                    </a:p>
                  </a:txBody>
                  <a:tcPr marL="68580" marR="68580" marT="0" marB="0" anchor="ctr"/>
                </a:tc>
                <a:tc>
                  <a:txBody>
                    <a:bodyPr/>
                    <a:lstStyle/>
                    <a:p>
                      <a:r>
                        <a:rPr lang="en-US" sz="1100" dirty="0">
                          <a:latin typeface="Times New Roman" pitchFamily="18" charset="0"/>
                          <a:cs typeface="Times New Roman" pitchFamily="18" charset="0"/>
                        </a:rPr>
                        <a:t>Problem Statement</a:t>
                      </a:r>
                    </a:p>
                  </a:txBody>
                  <a:tcPr marL="68580" marR="68580" marT="0" marB="0"/>
                </a:tc>
                <a:extLst>
                  <a:ext uri="{0D108BD9-81ED-4DB2-BD59-A6C34878D82A}">
                    <a16:rowId xmlns:a16="http://schemas.microsoft.com/office/drawing/2014/main" val="10004"/>
                  </a:ext>
                </a:extLst>
              </a:tr>
              <a:tr h="188342">
                <a:tc>
                  <a:txBody>
                    <a:bodyPr/>
                    <a:lstStyle/>
                    <a:p>
                      <a:pPr algn="ctr">
                        <a:lnSpc>
                          <a:spcPct val="115000"/>
                        </a:lnSpc>
                        <a:spcAft>
                          <a:spcPts val="0"/>
                        </a:spcAft>
                      </a:pPr>
                      <a:r>
                        <a:rPr lang="en-IN" sz="1100" dirty="0">
                          <a:effectLst/>
                          <a:latin typeface="Times New Roman" pitchFamily="18" charset="0"/>
                          <a:cs typeface="Times New Roman" pitchFamily="18" charset="0"/>
                        </a:rPr>
                        <a:t>5.</a:t>
                      </a:r>
                      <a:endParaRPr lang="en-IN" sz="1100" dirty="0">
                        <a:effectLst/>
                        <a:latin typeface="Times New Roman" pitchFamily="18" charset="0"/>
                        <a:ea typeface="Arial"/>
                        <a:cs typeface="Times New Roman" pitchFamily="18" charset="0"/>
                      </a:endParaRPr>
                    </a:p>
                  </a:txBody>
                  <a:tcPr marL="68580" marR="68580" marT="0" marB="0" anchor="ctr"/>
                </a:tc>
                <a:tc>
                  <a:txBody>
                    <a:bodyPr/>
                    <a:lstStyle/>
                    <a:p>
                      <a:r>
                        <a:rPr lang="en-US" sz="1100" dirty="0">
                          <a:latin typeface="Times New Roman" pitchFamily="18" charset="0"/>
                          <a:cs typeface="Times New Roman" pitchFamily="18" charset="0"/>
                        </a:rPr>
                        <a:t>Objectives of Project</a:t>
                      </a:r>
                    </a:p>
                  </a:txBody>
                  <a:tcPr marL="68580" marR="68580" marT="0" marB="0"/>
                </a:tc>
                <a:extLst>
                  <a:ext uri="{0D108BD9-81ED-4DB2-BD59-A6C34878D82A}">
                    <a16:rowId xmlns:a16="http://schemas.microsoft.com/office/drawing/2014/main" val="10005"/>
                  </a:ext>
                </a:extLst>
              </a:tr>
              <a:tr h="188342">
                <a:tc>
                  <a:txBody>
                    <a:bodyPr/>
                    <a:lstStyle/>
                    <a:p>
                      <a:pPr algn="ctr">
                        <a:lnSpc>
                          <a:spcPct val="115000"/>
                        </a:lnSpc>
                        <a:spcAft>
                          <a:spcPts val="0"/>
                        </a:spcAft>
                      </a:pPr>
                      <a:r>
                        <a:rPr lang="en-IN" sz="1100" dirty="0">
                          <a:effectLst/>
                          <a:latin typeface="Times New Roman" pitchFamily="18" charset="0"/>
                          <a:ea typeface="Arial"/>
                          <a:cs typeface="Times New Roman" pitchFamily="18" charset="0"/>
                        </a:rPr>
                        <a:t>6.</a:t>
                      </a: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latin typeface="Times New Roman" pitchFamily="18" charset="0"/>
                          <a:cs typeface="Times New Roman" pitchFamily="18" charset="0"/>
                        </a:rPr>
                        <a:t>Proposed System Implementation</a:t>
                      </a:r>
                    </a:p>
                  </a:txBody>
                  <a:tcPr marL="68580" marR="68580" marT="0" marB="0"/>
                </a:tc>
                <a:extLst>
                  <a:ext uri="{0D108BD9-81ED-4DB2-BD59-A6C34878D82A}">
                    <a16:rowId xmlns:a16="http://schemas.microsoft.com/office/drawing/2014/main" val="10006"/>
                  </a:ext>
                </a:extLst>
              </a:tr>
              <a:tr h="188342">
                <a:tc>
                  <a:txBody>
                    <a:bodyPr/>
                    <a:lstStyle/>
                    <a:p>
                      <a:pPr algn="ctr">
                        <a:lnSpc>
                          <a:spcPct val="115000"/>
                        </a:lnSpc>
                        <a:spcAft>
                          <a:spcPts val="0"/>
                        </a:spcAft>
                      </a:pPr>
                      <a:r>
                        <a:rPr lang="en-IN" sz="1100" dirty="0">
                          <a:effectLst/>
                          <a:latin typeface="Times New Roman" pitchFamily="18" charset="0"/>
                          <a:cs typeface="Times New Roman" pitchFamily="18" charset="0"/>
                        </a:rPr>
                        <a:t>7.</a:t>
                      </a:r>
                      <a:endParaRPr lang="en-IN" sz="1100" dirty="0">
                        <a:effectLst/>
                        <a:latin typeface="Times New Roman" pitchFamily="18" charset="0"/>
                        <a:ea typeface="Arial"/>
                        <a:cs typeface="Times New Roman" pitchFamily="18" charset="0"/>
                      </a:endParaRPr>
                    </a:p>
                  </a:txBody>
                  <a:tcPr marL="68580" marR="68580" marT="0" marB="0" anchor="ctr"/>
                </a:tc>
                <a:tc>
                  <a:txBody>
                    <a:bodyPr/>
                    <a:lstStyle/>
                    <a:p>
                      <a:r>
                        <a:rPr lang="en-US" sz="1100" dirty="0">
                          <a:latin typeface="Times New Roman" pitchFamily="18" charset="0"/>
                          <a:cs typeface="Times New Roman" pitchFamily="18" charset="0"/>
                        </a:rPr>
                        <a:t>Technology used</a:t>
                      </a:r>
                    </a:p>
                  </a:txBody>
                  <a:tcPr marL="68580" marR="68580" marT="0" marB="0"/>
                </a:tc>
                <a:extLst>
                  <a:ext uri="{0D108BD9-81ED-4DB2-BD59-A6C34878D82A}">
                    <a16:rowId xmlns:a16="http://schemas.microsoft.com/office/drawing/2014/main" val="10007"/>
                  </a:ext>
                </a:extLst>
              </a:tr>
              <a:tr h="188342">
                <a:tc>
                  <a:txBody>
                    <a:bodyPr/>
                    <a:lstStyle/>
                    <a:p>
                      <a:pPr algn="ctr">
                        <a:lnSpc>
                          <a:spcPct val="115000"/>
                        </a:lnSpc>
                        <a:spcAft>
                          <a:spcPts val="0"/>
                        </a:spcAft>
                      </a:pPr>
                      <a:r>
                        <a:rPr lang="en-IN" sz="1100" dirty="0">
                          <a:effectLst/>
                          <a:latin typeface="Times New Roman" pitchFamily="18" charset="0"/>
                          <a:cs typeface="Times New Roman" pitchFamily="18" charset="0"/>
                        </a:rPr>
                        <a:t>8.</a:t>
                      </a:r>
                      <a:endParaRPr lang="en-IN" sz="1100" dirty="0">
                        <a:effectLst/>
                        <a:latin typeface="Times New Roman" pitchFamily="18" charset="0"/>
                        <a:ea typeface="Arial"/>
                        <a:cs typeface="Times New Roman" pitchFamily="18" charset="0"/>
                      </a:endParaRPr>
                    </a:p>
                  </a:txBody>
                  <a:tcPr marL="68580" marR="68580" marT="0" marB="0" anchor="ctr"/>
                </a:tc>
                <a:tc>
                  <a:txBody>
                    <a:bodyPr/>
                    <a:lstStyle/>
                    <a:p>
                      <a:r>
                        <a:rPr lang="en-US" sz="1100" dirty="0">
                          <a:latin typeface="Times New Roman" pitchFamily="18" charset="0"/>
                          <a:cs typeface="Times New Roman" pitchFamily="18" charset="0"/>
                        </a:rPr>
                        <a:t>Results</a:t>
                      </a:r>
                    </a:p>
                  </a:txBody>
                  <a:tcPr marL="68580" marR="68580" marT="0" marB="0"/>
                </a:tc>
                <a:extLst>
                  <a:ext uri="{0D108BD9-81ED-4DB2-BD59-A6C34878D82A}">
                    <a16:rowId xmlns:a16="http://schemas.microsoft.com/office/drawing/2014/main" val="10008"/>
                  </a:ext>
                </a:extLst>
              </a:tr>
              <a:tr h="188342">
                <a:tc>
                  <a:txBody>
                    <a:bodyPr/>
                    <a:lstStyle/>
                    <a:p>
                      <a:pPr algn="ctr">
                        <a:lnSpc>
                          <a:spcPct val="115000"/>
                        </a:lnSpc>
                        <a:spcAft>
                          <a:spcPts val="0"/>
                        </a:spcAft>
                      </a:pPr>
                      <a:r>
                        <a:rPr lang="en-IN" sz="1100" dirty="0">
                          <a:effectLst/>
                          <a:latin typeface="Times New Roman" pitchFamily="18" charset="0"/>
                          <a:cs typeface="Times New Roman" pitchFamily="18" charset="0"/>
                        </a:rPr>
                        <a:t>9.</a:t>
                      </a:r>
                      <a:endParaRPr lang="en-IN" sz="1100" dirty="0">
                        <a:effectLst/>
                        <a:latin typeface="Times New Roman" pitchFamily="18" charset="0"/>
                        <a:ea typeface="Arial"/>
                        <a:cs typeface="Times New Roman" pitchFamily="18" charset="0"/>
                      </a:endParaRPr>
                    </a:p>
                  </a:txBody>
                  <a:tcPr marL="68580" marR="68580" marT="0" marB="0" anchor="ctr"/>
                </a:tc>
                <a:tc>
                  <a:txBody>
                    <a:bodyPr/>
                    <a:lstStyle/>
                    <a:p>
                      <a:r>
                        <a:rPr lang="en-US" sz="1100" dirty="0">
                          <a:latin typeface="Times New Roman" pitchFamily="18" charset="0"/>
                          <a:cs typeface="Times New Roman" pitchFamily="18" charset="0"/>
                        </a:rPr>
                        <a:t>Applications</a:t>
                      </a:r>
                    </a:p>
                  </a:txBody>
                  <a:tcPr marL="68580" marR="68580" marT="0" marB="0"/>
                </a:tc>
                <a:extLst>
                  <a:ext uri="{0D108BD9-81ED-4DB2-BD59-A6C34878D82A}">
                    <a16:rowId xmlns:a16="http://schemas.microsoft.com/office/drawing/2014/main" val="10009"/>
                  </a:ext>
                </a:extLst>
              </a:tr>
              <a:tr h="188342">
                <a:tc>
                  <a:txBody>
                    <a:bodyPr/>
                    <a:lstStyle/>
                    <a:p>
                      <a:pPr algn="ctr">
                        <a:lnSpc>
                          <a:spcPct val="115000"/>
                        </a:lnSpc>
                        <a:spcAft>
                          <a:spcPts val="0"/>
                        </a:spcAft>
                      </a:pPr>
                      <a:r>
                        <a:rPr lang="en-IN" sz="1100" dirty="0">
                          <a:effectLst/>
                          <a:latin typeface="Times New Roman" pitchFamily="18" charset="0"/>
                          <a:cs typeface="Times New Roman" pitchFamily="18" charset="0"/>
                        </a:rPr>
                        <a:t>10.</a:t>
                      </a:r>
                      <a:endParaRPr lang="en-IN" sz="1100" dirty="0">
                        <a:effectLst/>
                        <a:latin typeface="Times New Roman" pitchFamily="18" charset="0"/>
                        <a:ea typeface="Arial"/>
                        <a:cs typeface="Times New Roman" pitchFamily="18" charset="0"/>
                      </a:endParaRPr>
                    </a:p>
                  </a:txBody>
                  <a:tcPr marL="68580" marR="68580" marT="0" marB="0" anchor="ctr"/>
                </a:tc>
                <a:tc>
                  <a:txBody>
                    <a:bodyPr/>
                    <a:lstStyle/>
                    <a:p>
                      <a:r>
                        <a:rPr lang="en-US" sz="1100" dirty="0">
                          <a:latin typeface="Times New Roman" pitchFamily="18" charset="0"/>
                          <a:cs typeface="Times New Roman" pitchFamily="18" charset="0"/>
                        </a:rPr>
                        <a:t>Future Scope</a:t>
                      </a:r>
                    </a:p>
                  </a:txBody>
                  <a:tcPr marL="68580" marR="68580" marT="0" marB="0"/>
                </a:tc>
                <a:extLst>
                  <a:ext uri="{0D108BD9-81ED-4DB2-BD59-A6C34878D82A}">
                    <a16:rowId xmlns:a16="http://schemas.microsoft.com/office/drawing/2014/main" val="10010"/>
                  </a:ext>
                </a:extLst>
              </a:tr>
              <a:tr h="188342">
                <a:tc>
                  <a:txBody>
                    <a:bodyPr/>
                    <a:lstStyle/>
                    <a:p>
                      <a:pPr algn="ctr">
                        <a:lnSpc>
                          <a:spcPct val="115000"/>
                        </a:lnSpc>
                        <a:spcAft>
                          <a:spcPts val="0"/>
                        </a:spcAft>
                      </a:pPr>
                      <a:r>
                        <a:rPr lang="en-IN" sz="1100" dirty="0">
                          <a:effectLst/>
                          <a:latin typeface="Times New Roman" pitchFamily="18" charset="0"/>
                          <a:cs typeface="Times New Roman" pitchFamily="18" charset="0"/>
                        </a:rPr>
                        <a:t>11.</a:t>
                      </a:r>
                      <a:endParaRPr lang="en-IN" sz="1100" dirty="0">
                        <a:effectLst/>
                        <a:latin typeface="Times New Roman" pitchFamily="18" charset="0"/>
                        <a:ea typeface="Arial"/>
                        <a:cs typeface="Times New Roman" pitchFamily="18" charset="0"/>
                      </a:endParaRPr>
                    </a:p>
                  </a:txBody>
                  <a:tcPr marL="68580" marR="68580" marT="0" marB="0" anchor="ctr"/>
                </a:tc>
                <a:tc>
                  <a:txBody>
                    <a:bodyPr/>
                    <a:lstStyle/>
                    <a:p>
                      <a:r>
                        <a:rPr lang="en-US" sz="1100" dirty="0">
                          <a:latin typeface="Times New Roman" pitchFamily="18" charset="0"/>
                          <a:cs typeface="Times New Roman" pitchFamily="18" charset="0"/>
                        </a:rPr>
                        <a:t>Conclusion</a:t>
                      </a:r>
                    </a:p>
                  </a:txBody>
                  <a:tcPr marL="68580" marR="68580" marT="0" marB="0"/>
                </a:tc>
                <a:extLst>
                  <a:ext uri="{0D108BD9-81ED-4DB2-BD59-A6C34878D82A}">
                    <a16:rowId xmlns:a16="http://schemas.microsoft.com/office/drawing/2014/main" val="10011"/>
                  </a:ext>
                </a:extLst>
              </a:tr>
              <a:tr h="188342">
                <a:tc>
                  <a:txBody>
                    <a:bodyPr/>
                    <a:lstStyle/>
                    <a:p>
                      <a:pPr algn="ctr">
                        <a:lnSpc>
                          <a:spcPct val="115000"/>
                        </a:lnSpc>
                        <a:spcAft>
                          <a:spcPts val="0"/>
                        </a:spcAft>
                      </a:pPr>
                      <a:r>
                        <a:rPr lang="en-IN" sz="1100" dirty="0">
                          <a:effectLst/>
                          <a:latin typeface="Times New Roman" pitchFamily="18" charset="0"/>
                          <a:cs typeface="Times New Roman" pitchFamily="18" charset="0"/>
                        </a:rPr>
                        <a:t>12.</a:t>
                      </a:r>
                      <a:endParaRPr lang="en-IN" sz="1100" dirty="0">
                        <a:effectLst/>
                        <a:latin typeface="Times New Roman" pitchFamily="18" charset="0"/>
                        <a:ea typeface="Arial"/>
                        <a:cs typeface="Times New Roman" pitchFamily="18" charset="0"/>
                      </a:endParaRPr>
                    </a:p>
                  </a:txBody>
                  <a:tcPr marL="68580" marR="68580" marT="0" marB="0" anchor="ctr"/>
                </a:tc>
                <a:tc>
                  <a:txBody>
                    <a:bodyPr/>
                    <a:lstStyle/>
                    <a:p>
                      <a:r>
                        <a:rPr lang="en-US" sz="1100" dirty="0">
                          <a:latin typeface="Times New Roman" pitchFamily="18" charset="0"/>
                          <a:cs typeface="Times New Roman" pitchFamily="18" charset="0"/>
                        </a:rPr>
                        <a:t>References</a:t>
                      </a:r>
                    </a:p>
                  </a:txBody>
                  <a:tcPr marL="68580" marR="68580" marT="0" marB="0"/>
                </a:tc>
                <a:extLst>
                  <a:ext uri="{0D108BD9-81ED-4DB2-BD59-A6C34878D82A}">
                    <a16:rowId xmlns:a16="http://schemas.microsoft.com/office/drawing/2014/main" val="10012"/>
                  </a:ext>
                </a:extLst>
              </a:tr>
            </a:tbl>
          </a:graphicData>
        </a:graphic>
      </p:graphicFrame>
      <p:sp>
        <p:nvSpPr>
          <p:cNvPr id="9" name="Google Shape;59;p13"/>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US" sz="900" dirty="0">
                <a:latin typeface="Times New Roman"/>
                <a:ea typeface="Times New Roman"/>
                <a:cs typeface="Times New Roman"/>
                <a:sym typeface="Times New Roman"/>
              </a:rPr>
              <a:t>                                                                                                        </a:t>
            </a:r>
            <a:r>
              <a:rPr lang="en-US" sz="900" i="1" dirty="0">
                <a:latin typeface="Times New Roman"/>
                <a:ea typeface="Times New Roman"/>
                <a:cs typeface="Times New Roman"/>
                <a:sym typeface="Times New Roman"/>
              </a:rPr>
              <a:t>Department of AI-DS, K J Somaiya Institute of Technology, Sion, Mumbai </a:t>
            </a:r>
            <a:r>
              <a:rPr lang="en-US" sz="900" dirty="0">
                <a:latin typeface="Times New Roman"/>
                <a:ea typeface="Times New Roman"/>
                <a:cs typeface="Times New Roman"/>
                <a:sym typeface="Times New Roman"/>
              </a:rPr>
              <a:t>	</a:t>
            </a:r>
            <a:endParaRPr lang="en-US" sz="900" i="1"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1779729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2" name="TextBox 1">
            <a:extLst>
              <a:ext uri="{FF2B5EF4-FFF2-40B4-BE49-F238E27FC236}">
                <a16:creationId xmlns:a16="http://schemas.microsoft.com/office/drawing/2014/main" id="{CF20D57B-CB82-4E2B-9752-2D88FE940155}"/>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24" name="Google Shape;62;p13">
            <a:extLst>
              <a:ext uri="{FF2B5EF4-FFF2-40B4-BE49-F238E27FC236}">
                <a16:creationId xmlns:a16="http://schemas.microsoft.com/office/drawing/2014/main" id="{B8E81594-2C51-9C38-C2DC-DE5CEC650525}"/>
              </a:ext>
            </a:extLst>
          </p:cNvPr>
          <p:cNvSpPr txBox="1"/>
          <p:nvPr/>
        </p:nvSpPr>
        <p:spPr>
          <a:xfrm>
            <a:off x="300000" y="1300000"/>
            <a:ext cx="8500000" cy="42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dirty="0">
                <a:solidFill>
                  <a:srgbClr val="C00000"/>
                </a:solidFill>
                <a:latin typeface="Times New Roman"/>
                <a:ea typeface="Times New Roman"/>
                <a:cs typeface="Times New Roman"/>
                <a:sym typeface="Times New Roman"/>
              </a:rPr>
              <a:t>Introduction</a:t>
            </a:r>
            <a:endParaRPr sz="1800" dirty="0">
              <a:solidFill>
                <a:srgbClr val="000000"/>
              </a:solidFill>
              <a:latin typeface="Times New Roman"/>
              <a:ea typeface="Times New Roman"/>
              <a:cs typeface="Times New Roman"/>
              <a:sym typeface="Times New Roman"/>
            </a:endParaRPr>
          </a:p>
        </p:txBody>
      </p:sp>
      <p:sp>
        <p:nvSpPr>
          <p:cNvPr id="6" name="TextBox 5">
            <a:extLst>
              <a:ext uri="{FF2B5EF4-FFF2-40B4-BE49-F238E27FC236}">
                <a16:creationId xmlns:a16="http://schemas.microsoft.com/office/drawing/2014/main" id="{A5FF8B38-C8D5-791B-B7E6-F89C0DEFF5F2}"/>
              </a:ext>
            </a:extLst>
          </p:cNvPr>
          <p:cNvSpPr txBox="1"/>
          <p:nvPr/>
        </p:nvSpPr>
        <p:spPr>
          <a:xfrm>
            <a:off x="374386" y="1859048"/>
            <a:ext cx="8535619" cy="199266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 propose a natural-language spatial intelligence platform for real estate &amp; business site selection.</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Ask a question in plain English ("safest area near a metro for a cafe?") and it gives get a grounded map answer, not raw SQL.</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Built on real, live Mumbai data: roads, POIs, real estate listings, crime, transit; not synthetic/mocked.</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Turns weeks of manual location survey + budgeting into a single instant query.</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Generalizable design, built to extend beyond Mumbai to any city with your data.</a:t>
            </a:r>
          </a:p>
        </p:txBody>
      </p:sp>
    </p:spTree>
    <p:extLst>
      <p:ext uri="{BB962C8B-B14F-4D97-AF65-F5344CB8AC3E}">
        <p14:creationId xmlns:p14="http://schemas.microsoft.com/office/powerpoint/2010/main" val="1779729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A2712059-1FF3-626C-68BC-B7A2A76721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D37DCDF-60ED-8EDF-63C6-9380F9E1A1E5}"/>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75CC1C24-36A9-3661-0C1F-870F6CF5DFF8}"/>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A55CC7F4-9996-386D-8112-905DA99C1EFA}"/>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4231EB65-45D8-736B-33FB-AF8D40171C66}"/>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A1EC25AE-8488-67F7-3A80-7E4FDCD8BA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3CE907AB-EBE2-F423-0BBE-50EA02E7DE88}"/>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4" name="Google Shape;62;p13">
            <a:extLst>
              <a:ext uri="{FF2B5EF4-FFF2-40B4-BE49-F238E27FC236}">
                <a16:creationId xmlns:a16="http://schemas.microsoft.com/office/drawing/2014/main" id="{FEDF26E2-0FAC-CABC-4F57-8EBB65E4D1E2}"/>
              </a:ext>
            </a:extLst>
          </p:cNvPr>
          <p:cNvSpPr txBox="1"/>
          <p:nvPr/>
        </p:nvSpPr>
        <p:spPr>
          <a:xfrm>
            <a:off x="300000" y="1300000"/>
            <a:ext cx="8500000" cy="42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dirty="0">
                <a:solidFill>
                  <a:srgbClr val="C00000"/>
                </a:solidFill>
                <a:latin typeface="Times New Roman"/>
                <a:ea typeface="Times New Roman"/>
                <a:cs typeface="Times New Roman"/>
                <a:sym typeface="Times New Roman"/>
              </a:rPr>
              <a:t>Literature Survey</a:t>
            </a:r>
            <a:endParaRPr sz="1800" dirty="0">
              <a:solidFill>
                <a:srgbClr val="000000"/>
              </a:solidFill>
              <a:latin typeface="Times New Roman"/>
              <a:ea typeface="Times New Roman"/>
              <a:cs typeface="Times New Roman"/>
              <a:sym typeface="Times New Roman"/>
            </a:endParaRPr>
          </a:p>
        </p:txBody>
      </p:sp>
      <p:graphicFrame>
        <p:nvGraphicFramePr>
          <p:cNvPr id="12" name="Table 11">
            <a:extLst>
              <a:ext uri="{FF2B5EF4-FFF2-40B4-BE49-F238E27FC236}">
                <a16:creationId xmlns:a16="http://schemas.microsoft.com/office/drawing/2014/main" id="{1DBD80CD-1DBA-4373-569B-C0609F59E7AC}"/>
              </a:ext>
            </a:extLst>
          </p:cNvPr>
          <p:cNvGraphicFramePr>
            <a:graphicFrameLocks noGrp="1"/>
          </p:cNvGraphicFramePr>
          <p:nvPr>
            <p:extLst>
              <p:ext uri="{D42A27DB-BD31-4B8C-83A1-F6EECF244321}">
                <p14:modId xmlns:p14="http://schemas.microsoft.com/office/powerpoint/2010/main" val="3886128299"/>
              </p:ext>
            </p:extLst>
          </p:nvPr>
        </p:nvGraphicFramePr>
        <p:xfrm>
          <a:off x="1" y="1870252"/>
          <a:ext cx="8910005" cy="2272428"/>
        </p:xfrm>
        <a:graphic>
          <a:graphicData uri="http://schemas.openxmlformats.org/drawingml/2006/table">
            <a:tbl>
              <a:tblPr/>
              <a:tblGrid>
                <a:gridCol w="527171">
                  <a:extLst>
                    <a:ext uri="{9D8B030D-6E8A-4147-A177-3AD203B41FA5}">
                      <a16:colId xmlns:a16="http://schemas.microsoft.com/office/drawing/2014/main" val="728220396"/>
                    </a:ext>
                  </a:extLst>
                </a:gridCol>
                <a:gridCol w="781486">
                  <a:extLst>
                    <a:ext uri="{9D8B030D-6E8A-4147-A177-3AD203B41FA5}">
                      <a16:colId xmlns:a16="http://schemas.microsoft.com/office/drawing/2014/main" val="3877882674"/>
                    </a:ext>
                  </a:extLst>
                </a:gridCol>
                <a:gridCol w="1900337">
                  <a:extLst>
                    <a:ext uri="{9D8B030D-6E8A-4147-A177-3AD203B41FA5}">
                      <a16:colId xmlns:a16="http://schemas.microsoft.com/office/drawing/2014/main" val="3433760072"/>
                    </a:ext>
                  </a:extLst>
                </a:gridCol>
                <a:gridCol w="1900337">
                  <a:extLst>
                    <a:ext uri="{9D8B030D-6E8A-4147-A177-3AD203B41FA5}">
                      <a16:colId xmlns:a16="http://schemas.microsoft.com/office/drawing/2014/main" val="2291205862"/>
                    </a:ext>
                  </a:extLst>
                </a:gridCol>
                <a:gridCol w="1900337">
                  <a:extLst>
                    <a:ext uri="{9D8B030D-6E8A-4147-A177-3AD203B41FA5}">
                      <a16:colId xmlns:a16="http://schemas.microsoft.com/office/drawing/2014/main" val="548069250"/>
                    </a:ext>
                  </a:extLst>
                </a:gridCol>
                <a:gridCol w="1900337">
                  <a:extLst>
                    <a:ext uri="{9D8B030D-6E8A-4147-A177-3AD203B41FA5}">
                      <a16:colId xmlns:a16="http://schemas.microsoft.com/office/drawing/2014/main" val="745034547"/>
                    </a:ext>
                  </a:extLst>
                </a:gridCol>
              </a:tblGrid>
              <a:tr h="322564">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Sr. No.</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Ref.</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Methodologies</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Objectives</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Advantages</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Limitations/Research Gaps</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568583045"/>
                  </a:ext>
                </a:extLst>
              </a:tr>
              <a:tr h="915626">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1</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a:solidFill>
                            <a:srgbClr val="000000"/>
                          </a:solidFill>
                          <a:effectLst/>
                          <a:latin typeface="Times New Roman" panose="02020603050405020304" pitchFamily="18" charset="0"/>
                          <a:cs typeface="Times New Roman" panose="02020603050405020304" pitchFamily="18" charset="0"/>
                          <a:hlinkClick r:id="rId4"/>
                        </a:rPr>
                        <a:t>T&amp;F: 10.1080/17538947.2023.2278895</a:t>
                      </a: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Prototype system </a:t>
                      </a:r>
                      <a:r>
                        <a:rPr lang="en-IN" sz="1000" b="0" i="0" dirty="0">
                          <a:solidFill>
                            <a:srgbClr val="1F1F1F"/>
                          </a:solidFill>
                          <a:effectLst/>
                          <a:latin typeface="Times New Roman" panose="02020603050405020304" pitchFamily="18" charset="0"/>
                          <a:cs typeface="Times New Roman" panose="02020603050405020304" pitchFamily="18" charset="0"/>
                        </a:rPr>
                        <a:t>LLM-Geo</a:t>
                      </a:r>
                      <a:r>
                        <a:rPr lang="en-IN" sz="1000" dirty="0">
                          <a:solidFill>
                            <a:srgbClr val="1F1F1F"/>
                          </a:solidFill>
                          <a:effectLst/>
                          <a:latin typeface="Times New Roman" panose="02020603050405020304" pitchFamily="18" charset="0"/>
                          <a:cs typeface="Times New Roman" panose="02020603050405020304" pitchFamily="18" charset="0"/>
                        </a:rPr>
                        <a:t> using the GPT-4 API to combine natural language understanding, reasoning, and automated code generation.</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develop an Autonomous GIS that addresses spatial problems across five goals: self-generating, self-organizing, self-verifying, self-executing, and self-growing.</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Generates accurate maps, graphs, and aggregated numbers automatically without human intervention.</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a:solidFill>
                            <a:srgbClr val="1F1F1F"/>
                          </a:solidFill>
                          <a:effectLst/>
                          <a:latin typeface="Times New Roman" panose="02020603050405020304" pitchFamily="18" charset="0"/>
                          <a:cs typeface="Times New Roman" panose="02020603050405020304" pitchFamily="18" charset="0"/>
                        </a:rPr>
                        <a:t>Still in its infancy; currently lacks critical operational modules such as logging and code testing.</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169663128"/>
                  </a:ext>
                </a:extLst>
              </a:tr>
              <a:tr h="1034238">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2</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err="1">
                          <a:solidFill>
                            <a:srgbClr val="000000"/>
                          </a:solidFill>
                          <a:effectLst/>
                          <a:latin typeface="Times New Roman" panose="02020603050405020304" pitchFamily="18" charset="0"/>
                          <a:cs typeface="Times New Roman" panose="02020603050405020304" pitchFamily="18" charset="0"/>
                          <a:hlinkClick r:id="rId5"/>
                        </a:rPr>
                        <a:t>arXiv</a:t>
                      </a:r>
                      <a:r>
                        <a:rPr lang="en-IN" sz="1100" dirty="0">
                          <a:solidFill>
                            <a:srgbClr val="000000"/>
                          </a:solidFill>
                          <a:effectLst/>
                          <a:latin typeface="Times New Roman" panose="02020603050405020304" pitchFamily="18" charset="0"/>
                          <a:cs typeface="Times New Roman" panose="02020603050405020304" pitchFamily="18" charset="0"/>
                          <a:hlinkClick r:id="rId5"/>
                        </a:rPr>
                        <a:t>: 2510.21045</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Multi-agent framework utilizing staged interpretation, schema grounding, logical planning, SQL generation, and execution-based review.</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overcome spatial Text-to-SQL complexity (geographic intent, coordinate systems, and spatial function choice) over </a:t>
                      </a:r>
                      <a:r>
                        <a:rPr lang="en-IN" sz="1000" dirty="0" err="1">
                          <a:solidFill>
                            <a:srgbClr val="1F1F1F"/>
                          </a:solidFill>
                          <a:effectLst/>
                          <a:latin typeface="Times New Roman" panose="02020603050405020304" pitchFamily="18" charset="0"/>
                          <a:cs typeface="Times New Roman" panose="02020603050405020304" pitchFamily="18" charset="0"/>
                        </a:rPr>
                        <a:t>PostGIS</a:t>
                      </a:r>
                      <a:r>
                        <a:rPr lang="en-IN" sz="1000" dirty="0">
                          <a:solidFill>
                            <a:srgbClr val="1F1F1F"/>
                          </a:solidFill>
                          <a:effectLst/>
                          <a:latin typeface="Times New Roman" panose="02020603050405020304" pitchFamily="18" charset="0"/>
                          <a:cs typeface="Times New Roman" panose="02020603050405020304" pitchFamily="18" charset="0"/>
                        </a:rPr>
                        <a:t> databases.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Achieved 87.7% accuracy on the </a:t>
                      </a:r>
                      <a:r>
                        <a:rPr lang="en-IN" sz="1000" dirty="0" err="1">
                          <a:solidFill>
                            <a:srgbClr val="1F1F1F"/>
                          </a:solidFill>
                          <a:effectLst/>
                          <a:latin typeface="Times New Roman" panose="02020603050405020304" pitchFamily="18" charset="0"/>
                          <a:cs typeface="Times New Roman" panose="02020603050405020304" pitchFamily="18" charset="0"/>
                        </a:rPr>
                        <a:t>SpatialQueryQA</a:t>
                      </a:r>
                      <a:r>
                        <a:rPr lang="en-IN" sz="1000" dirty="0">
                          <a:solidFill>
                            <a:srgbClr val="1F1F1F"/>
                          </a:solidFill>
                          <a:effectLst/>
                          <a:latin typeface="Times New Roman" panose="02020603050405020304" pitchFamily="18" charset="0"/>
                          <a:cs typeface="Times New Roman" panose="02020603050405020304" pitchFamily="18" charset="0"/>
                        </a:rPr>
                        <a:t> benchmark, demonstrating that review agents significantly boost query robustness.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sz="1000" dirty="0">
                          <a:solidFill>
                            <a:srgbClr val="1F1F1F"/>
                          </a:solidFill>
                          <a:effectLst/>
                          <a:latin typeface="Times New Roman" panose="02020603050405020304" pitchFamily="18" charset="0"/>
                          <a:cs typeface="Times New Roman" panose="02020603050405020304" pitchFamily="18" charset="0"/>
                        </a:rPr>
                        <a:t>Geodesic-vs-planar distance errors and incorrect aggregation logic on complex multi-step queries.</a:t>
                      </a:r>
                      <a:endParaRPr lang="en-IN" sz="1000" dirty="0">
                        <a:solidFill>
                          <a:srgbClr val="1F1F1F"/>
                        </a:solidFill>
                        <a:effectLst/>
                        <a:latin typeface="Times New Roman" panose="02020603050405020304" pitchFamily="18" charset="0"/>
                        <a:cs typeface="Times New Roman" panose="02020603050405020304" pitchFamily="18" charset="0"/>
                      </a:endParaRP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47920595"/>
                  </a:ext>
                </a:extLst>
              </a:tr>
            </a:tbl>
          </a:graphicData>
        </a:graphic>
      </p:graphicFrame>
    </p:spTree>
    <p:extLst>
      <p:ext uri="{BB962C8B-B14F-4D97-AF65-F5344CB8AC3E}">
        <p14:creationId xmlns:p14="http://schemas.microsoft.com/office/powerpoint/2010/main" val="1073432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11F2AAAF-FB53-B8C2-ED44-E0FC8448A555}"/>
                  </a:ext>
                </a:extLst>
              </p:cNvPr>
              <p:cNvGraphicFramePr>
                <a:graphicFrameLocks noGrp="1"/>
              </p:cNvGraphicFramePr>
              <p:nvPr>
                <p:extLst>
                  <p:ext uri="{D42A27DB-BD31-4B8C-83A1-F6EECF244321}">
                    <p14:modId xmlns:p14="http://schemas.microsoft.com/office/powerpoint/2010/main" val="981920732"/>
                  </p:ext>
                </p:extLst>
              </p:nvPr>
            </p:nvGraphicFramePr>
            <p:xfrm>
              <a:off x="0" y="-4109"/>
              <a:ext cx="9144001" cy="5281950"/>
            </p:xfrm>
            <a:graphic>
              <a:graphicData uri="http://schemas.openxmlformats.org/drawingml/2006/table">
                <a:tbl>
                  <a:tblPr/>
                  <a:tblGrid>
                    <a:gridCol w="541016">
                      <a:extLst>
                        <a:ext uri="{9D8B030D-6E8A-4147-A177-3AD203B41FA5}">
                          <a16:colId xmlns:a16="http://schemas.microsoft.com/office/drawing/2014/main" val="1060810004"/>
                        </a:ext>
                      </a:extLst>
                    </a:gridCol>
                    <a:gridCol w="802009">
                      <a:extLst>
                        <a:ext uri="{9D8B030D-6E8A-4147-A177-3AD203B41FA5}">
                          <a16:colId xmlns:a16="http://schemas.microsoft.com/office/drawing/2014/main" val="4115102136"/>
                        </a:ext>
                      </a:extLst>
                    </a:gridCol>
                    <a:gridCol w="1950244">
                      <a:extLst>
                        <a:ext uri="{9D8B030D-6E8A-4147-A177-3AD203B41FA5}">
                          <a16:colId xmlns:a16="http://schemas.microsoft.com/office/drawing/2014/main" val="3399050982"/>
                        </a:ext>
                      </a:extLst>
                    </a:gridCol>
                    <a:gridCol w="1950244">
                      <a:extLst>
                        <a:ext uri="{9D8B030D-6E8A-4147-A177-3AD203B41FA5}">
                          <a16:colId xmlns:a16="http://schemas.microsoft.com/office/drawing/2014/main" val="1618201378"/>
                        </a:ext>
                      </a:extLst>
                    </a:gridCol>
                    <a:gridCol w="1950244">
                      <a:extLst>
                        <a:ext uri="{9D8B030D-6E8A-4147-A177-3AD203B41FA5}">
                          <a16:colId xmlns:a16="http://schemas.microsoft.com/office/drawing/2014/main" val="275247093"/>
                        </a:ext>
                      </a:extLst>
                    </a:gridCol>
                    <a:gridCol w="1950244">
                      <a:extLst>
                        <a:ext uri="{9D8B030D-6E8A-4147-A177-3AD203B41FA5}">
                          <a16:colId xmlns:a16="http://schemas.microsoft.com/office/drawing/2014/main" val="1637992676"/>
                        </a:ext>
                      </a:extLst>
                    </a:gridCol>
                  </a:tblGrid>
                  <a:tr h="322564">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Sr. No.</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Ref.</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Methodologies</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Objectives</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Advantages</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Limitations/Research Gaps</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633283967"/>
                      </a:ext>
                    </a:extLst>
                  </a:tr>
                  <a:tr h="915626">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1</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a:solidFill>
                                <a:srgbClr val="000000"/>
                              </a:solidFill>
                              <a:effectLst/>
                              <a:latin typeface="Times New Roman" panose="02020603050405020304" pitchFamily="18" charset="0"/>
                              <a:cs typeface="Times New Roman" panose="02020603050405020304" pitchFamily="18" charset="0"/>
                              <a:hlinkClick r:id="rId2"/>
                            </a:rPr>
                            <a:t>T&amp;F: 10.1080/17538947.2023.2278895</a:t>
                          </a: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Prototype system </a:t>
                          </a:r>
                          <a:r>
                            <a:rPr lang="en-IN" sz="1000" b="0" i="0" dirty="0">
                              <a:solidFill>
                                <a:srgbClr val="1F1F1F"/>
                              </a:solidFill>
                              <a:effectLst/>
                              <a:latin typeface="Times New Roman" panose="02020603050405020304" pitchFamily="18" charset="0"/>
                              <a:cs typeface="Times New Roman" panose="02020603050405020304" pitchFamily="18" charset="0"/>
                            </a:rPr>
                            <a:t>LLM-Geo</a:t>
                          </a:r>
                          <a:r>
                            <a:rPr lang="en-IN" sz="1000" dirty="0">
                              <a:solidFill>
                                <a:srgbClr val="1F1F1F"/>
                              </a:solidFill>
                              <a:effectLst/>
                              <a:latin typeface="Times New Roman" panose="02020603050405020304" pitchFamily="18" charset="0"/>
                              <a:cs typeface="Times New Roman" panose="02020603050405020304" pitchFamily="18" charset="0"/>
                            </a:rPr>
                            <a:t> using the GPT-4 API to combine natural language understanding, reasoning, and automated code generation.</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develop an Autonomous GIS that addresses spatial problems across five goals: self-generating, self-organizing, self-verifying, self-executing, and self-growing.</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Generates accurate maps, graphs, and aggregated numbers automatically without human intervention.</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a:solidFill>
                                <a:srgbClr val="1F1F1F"/>
                              </a:solidFill>
                              <a:effectLst/>
                              <a:latin typeface="Times New Roman" panose="02020603050405020304" pitchFamily="18" charset="0"/>
                              <a:cs typeface="Times New Roman" panose="02020603050405020304" pitchFamily="18" charset="0"/>
                            </a:rPr>
                            <a:t>Still in its infancy; currently lacks critical operational modules such as logging and code testing.</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884981444"/>
                      </a:ext>
                    </a:extLst>
                  </a:tr>
                  <a:tr h="1034238">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2</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err="1">
                              <a:solidFill>
                                <a:srgbClr val="000000"/>
                              </a:solidFill>
                              <a:effectLst/>
                              <a:latin typeface="Times New Roman" panose="02020603050405020304" pitchFamily="18" charset="0"/>
                              <a:cs typeface="Times New Roman" panose="02020603050405020304" pitchFamily="18" charset="0"/>
                              <a:hlinkClick r:id="rId3"/>
                            </a:rPr>
                            <a:t>arXiv</a:t>
                          </a:r>
                          <a:r>
                            <a:rPr lang="en-IN" sz="1100" dirty="0">
                              <a:solidFill>
                                <a:srgbClr val="000000"/>
                              </a:solidFill>
                              <a:effectLst/>
                              <a:latin typeface="Times New Roman" panose="02020603050405020304" pitchFamily="18" charset="0"/>
                              <a:cs typeface="Times New Roman" panose="02020603050405020304" pitchFamily="18" charset="0"/>
                              <a:hlinkClick r:id="rId3"/>
                            </a:rPr>
                            <a:t>: 2510.21045</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Multi-agent framework utilizing staged interpretation, schema grounding, logical planning, SQL generation, and execution-based review.</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overcome spatial Text-to-SQL complexity (geographic intent, coordinate systems, and spatial function choice) over </a:t>
                          </a:r>
                          <a:r>
                            <a:rPr lang="en-IN" sz="1000" dirty="0" err="1">
                              <a:solidFill>
                                <a:srgbClr val="1F1F1F"/>
                              </a:solidFill>
                              <a:effectLst/>
                              <a:latin typeface="Times New Roman" panose="02020603050405020304" pitchFamily="18" charset="0"/>
                              <a:cs typeface="Times New Roman" panose="02020603050405020304" pitchFamily="18" charset="0"/>
                            </a:rPr>
                            <a:t>PostGIS</a:t>
                          </a:r>
                          <a:r>
                            <a:rPr lang="en-IN" sz="1000" dirty="0">
                              <a:solidFill>
                                <a:srgbClr val="1F1F1F"/>
                              </a:solidFill>
                              <a:effectLst/>
                              <a:latin typeface="Times New Roman" panose="02020603050405020304" pitchFamily="18" charset="0"/>
                              <a:cs typeface="Times New Roman" panose="02020603050405020304" pitchFamily="18" charset="0"/>
                            </a:rPr>
                            <a:t> databases.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Achieved 87.7% accuracy on the </a:t>
                          </a:r>
                          <a:r>
                            <a:rPr lang="en-IN" sz="1000" dirty="0" err="1">
                              <a:solidFill>
                                <a:srgbClr val="1F1F1F"/>
                              </a:solidFill>
                              <a:effectLst/>
                              <a:latin typeface="Times New Roman" panose="02020603050405020304" pitchFamily="18" charset="0"/>
                              <a:cs typeface="Times New Roman" panose="02020603050405020304" pitchFamily="18" charset="0"/>
                            </a:rPr>
                            <a:t>SpatialQueryQA</a:t>
                          </a:r>
                          <a:r>
                            <a:rPr lang="en-IN" sz="1000" dirty="0">
                              <a:solidFill>
                                <a:srgbClr val="1F1F1F"/>
                              </a:solidFill>
                              <a:effectLst/>
                              <a:latin typeface="Times New Roman" panose="02020603050405020304" pitchFamily="18" charset="0"/>
                              <a:cs typeface="Times New Roman" panose="02020603050405020304" pitchFamily="18" charset="0"/>
                            </a:rPr>
                            <a:t> benchmark, demonstrating that review agents significantly boost query robustness.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sz="1000" dirty="0">
                              <a:solidFill>
                                <a:srgbClr val="1F1F1F"/>
                              </a:solidFill>
                              <a:effectLst/>
                              <a:latin typeface="Times New Roman" panose="02020603050405020304" pitchFamily="18" charset="0"/>
                              <a:cs typeface="Times New Roman" panose="02020603050405020304" pitchFamily="18" charset="0"/>
                            </a:rPr>
                            <a:t>Geodesic-vs-planar distance errors and incorrect aggregation logic on complex multi-step queries.</a:t>
                          </a:r>
                          <a:endParaRPr lang="en-IN" sz="1000" dirty="0">
                            <a:solidFill>
                              <a:srgbClr val="1F1F1F"/>
                            </a:solidFill>
                            <a:effectLst/>
                            <a:latin typeface="Times New Roman" panose="02020603050405020304" pitchFamily="18" charset="0"/>
                            <a:cs typeface="Times New Roman" panose="02020603050405020304" pitchFamily="18" charset="0"/>
                          </a:endParaRP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200933119"/>
                      </a:ext>
                    </a:extLst>
                  </a:tr>
                  <a:tr h="1152851">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3</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a:solidFill>
                                <a:srgbClr val="000000"/>
                              </a:solidFill>
                              <a:effectLst/>
                              <a:latin typeface="Times New Roman" panose="02020603050405020304" pitchFamily="18" charset="0"/>
                              <a:cs typeface="Times New Roman" panose="02020603050405020304" pitchFamily="18" charset="0"/>
                              <a:hlinkClick r:id="rId4"/>
                            </a:rPr>
                            <a:t>IEEE: 10824870</a:t>
                          </a: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Two-phase framework (</a:t>
                          </a:r>
                          <a:r>
                            <a:rPr lang="en-IN" sz="1000" b="0" i="0" dirty="0" err="1">
                              <a:solidFill>
                                <a:srgbClr val="1F1F1F"/>
                              </a:solidFill>
                              <a:effectLst/>
                              <a:latin typeface="Times New Roman" panose="02020603050405020304" pitchFamily="18" charset="0"/>
                              <a:cs typeface="Times New Roman" panose="02020603050405020304" pitchFamily="18" charset="0"/>
                            </a:rPr>
                            <a:t>NALSpatial</a:t>
                          </a:r>
                          <a:r>
                            <a:rPr lang="en-IN" sz="1000" dirty="0">
                              <a:solidFill>
                                <a:srgbClr val="1F1F1F"/>
                              </a:solidFill>
                              <a:effectLst/>
                              <a:latin typeface="Times New Roman" panose="02020603050405020304" pitchFamily="18" charset="0"/>
                              <a:cs typeface="Times New Roman" panose="02020603050405020304" pitchFamily="18" charset="0"/>
                            </a:rPr>
                            <a:t>) combining NLP entity extraction/intent detection with mapping rules and structured language models in seconds.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translate non-expert natural language queries into executable spatial database queries (range, </a:t>
                          </a:r>
                          <a:r>
                            <a:rPr lang="en-IN" sz="1000" dirty="0" err="1">
                              <a:solidFill>
                                <a:srgbClr val="1F1F1F"/>
                              </a:solidFill>
                              <a:effectLst/>
                              <a:latin typeface="Times New Roman" panose="02020603050405020304" pitchFamily="18" charset="0"/>
                              <a:cs typeface="Times New Roman" panose="02020603050405020304" pitchFamily="18" charset="0"/>
                            </a:rPr>
                            <a:t>kNN</a:t>
                          </a:r>
                          <a:r>
                            <a:rPr lang="en-IN" sz="1000" dirty="0">
                              <a:solidFill>
                                <a:srgbClr val="1F1F1F"/>
                              </a:solidFill>
                              <a:effectLst/>
                              <a:latin typeface="Times New Roman" panose="02020603050405020304" pitchFamily="18" charset="0"/>
                              <a:cs typeface="Times New Roman" panose="02020603050405020304" pitchFamily="18" charset="0"/>
                            </a:rPr>
                            <a:t>, spatial join, aggregation).</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Fast average response time (~2.5s) with 95% translatability and 92% precision, outperforming state-of-the-art baselines.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Translation accuracy relies heavily on predefined entity mapping rules and predefined spatial query categories.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13217486"/>
                      </a:ext>
                    </a:extLst>
                  </a:tr>
                  <a:tr h="797014">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4</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a:solidFill>
                                <a:srgbClr val="000000"/>
                              </a:solidFill>
                              <a:effectLst/>
                              <a:latin typeface="Times New Roman" panose="02020603050405020304" pitchFamily="18" charset="0"/>
                              <a:cs typeface="Times New Roman" panose="02020603050405020304" pitchFamily="18" charset="0"/>
                              <a:hlinkClick r:id="rId5"/>
                            </a:rPr>
                            <a:t>IEEE: 10651125</a:t>
                          </a: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b="0" i="0" dirty="0">
                              <a:solidFill>
                                <a:srgbClr val="1F1F1F"/>
                              </a:solidFill>
                              <a:effectLst/>
                              <a:latin typeface="Times New Roman" panose="02020603050405020304" pitchFamily="18" charset="0"/>
                              <a:cs typeface="Times New Roman" panose="02020603050405020304" pitchFamily="18" charset="0"/>
                            </a:rPr>
                            <a:t>GS-SQL</a:t>
                          </a:r>
                          <a:r>
                            <a:rPr lang="en-IN" sz="1000" dirty="0">
                              <a:solidFill>
                                <a:srgbClr val="1F1F1F"/>
                              </a:solidFill>
                              <a:effectLst/>
                              <a:latin typeface="Times New Roman" panose="02020603050405020304" pitchFamily="18" charset="0"/>
                              <a:cs typeface="Times New Roman" panose="02020603050405020304" pitchFamily="18" charset="0"/>
                            </a:rPr>
                            <a:t> framework incorporating an improved Abstract Syntax Tree (AST), spatial entity tagging, and spatial semantic extraction evaluated on </a:t>
                          </a:r>
                          <a:r>
                            <a:rPr lang="en-IN" sz="1000" b="0" i="0" dirty="0" err="1">
                              <a:solidFill>
                                <a:srgbClr val="1F1F1F"/>
                              </a:solidFill>
                              <a:effectLst/>
                              <a:latin typeface="Times New Roman" panose="02020603050405020304" pitchFamily="18" charset="0"/>
                              <a:cs typeface="Times New Roman" panose="02020603050405020304" pitchFamily="18" charset="0"/>
                            </a:rPr>
                            <a:t>GeoSpatialSpider</a:t>
                          </a:r>
                          <a:r>
                            <a:rPr lang="en-IN" sz="1000" dirty="0">
                              <a:solidFill>
                                <a:srgbClr val="1F1F1F"/>
                              </a:solidFill>
                              <a:effectLst/>
                              <a:latin typeface="Times New Roman" panose="02020603050405020304" pitchFamily="18" charset="0"/>
                              <a:cs typeface="Times New Roman" panose="02020603050405020304" pitchFamily="18" charset="0"/>
                            </a:rPr>
                            <a:t>.</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jointly model schema item alignment and geospatial semantics to generate nested SQL queries and spatial functions.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Successfully parses complex geospatial semantics while preserving traditional cross-domain Text-to-SQL performance.</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sz="1000" dirty="0">
                              <a:solidFill>
                                <a:srgbClr val="1F1F1F"/>
                              </a:solidFill>
                              <a:effectLst/>
                              <a:latin typeface="Times New Roman" panose="02020603050405020304" pitchFamily="18" charset="0"/>
                              <a:cs typeface="Times New Roman" panose="02020603050405020304" pitchFamily="18" charset="0"/>
                            </a:rPr>
                            <a:t>Accuracy falls well below single-parameter functions when handling two-parameter spatial functions requiring entity-relationship reasoning.</a:t>
                          </a:r>
                          <a:endParaRPr lang="en-IN" sz="1000" dirty="0">
                            <a:solidFill>
                              <a:srgbClr val="1F1F1F"/>
                            </a:solidFill>
                            <a:effectLst/>
                            <a:latin typeface="Times New Roman" panose="02020603050405020304" pitchFamily="18" charset="0"/>
                            <a:cs typeface="Times New Roman" panose="02020603050405020304" pitchFamily="18" charset="0"/>
                          </a:endParaRP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74315275"/>
                      </a:ext>
                    </a:extLst>
                  </a:tr>
                  <a:tr h="1059657">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5</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err="1">
                              <a:solidFill>
                                <a:srgbClr val="000000"/>
                              </a:solidFill>
                              <a:effectLst/>
                              <a:latin typeface="Times New Roman" panose="02020603050405020304" pitchFamily="18" charset="0"/>
                              <a:cs typeface="Times New Roman" panose="02020603050405020304" pitchFamily="18" charset="0"/>
                              <a:hlinkClick r:id="rId6"/>
                            </a:rPr>
                            <a:t>arXiv</a:t>
                          </a:r>
                          <a:r>
                            <a:rPr lang="en-IN" sz="1100" dirty="0">
                              <a:solidFill>
                                <a:srgbClr val="000000"/>
                              </a:solidFill>
                              <a:effectLst/>
                              <a:latin typeface="Times New Roman" panose="02020603050405020304" pitchFamily="18" charset="0"/>
                              <a:cs typeface="Times New Roman" panose="02020603050405020304" pitchFamily="18" charset="0"/>
                              <a:hlinkClick r:id="rId6"/>
                            </a:rPr>
                            <a:t>: 2310.06213</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b="0" i="0" dirty="0" err="1">
                              <a:solidFill>
                                <a:srgbClr val="1F1F1F"/>
                              </a:solidFill>
                              <a:effectLst/>
                              <a:latin typeface="Times New Roman" panose="02020603050405020304" pitchFamily="18" charset="0"/>
                              <a:cs typeface="Times New Roman" panose="02020603050405020304" pitchFamily="18" charset="0"/>
                            </a:rPr>
                            <a:t>GeoLLM</a:t>
                          </a:r>
                          <a:r>
                            <a:rPr lang="en-IN" sz="1000" dirty="0">
                              <a:solidFill>
                                <a:srgbClr val="1F1F1F"/>
                              </a:solidFill>
                              <a:effectLst/>
                              <a:latin typeface="Times New Roman" panose="02020603050405020304" pitchFamily="18" charset="0"/>
                              <a:cs typeface="Times New Roman" panose="02020603050405020304" pitchFamily="18" charset="0"/>
                            </a:rPr>
                            <a:t> method extracting LLM knowledge (e.g., GPT-3.5) by combining model representations with auxiliary OpenStreetMap data.</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leverage LLMs for predicting spatial indicators like population density and economic livelihoods without relying solely on satellite imagery.</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Shows a 70% performance improvement (</a:t>
                          </a:r>
                          <a14:m>
                            <m:oMath xmlns:m="http://schemas.openxmlformats.org/officeDocument/2006/math">
                              <m:sSup>
                                <m:sSupPr>
                                  <m:ctrlPr>
                                    <a:rPr lang="en-IN" sz="1000" i="1">
                                      <a:latin typeface="Cambria Math" panose="02040503050406030204" pitchFamily="18" charset="0"/>
                                    </a:rPr>
                                  </m:ctrlPr>
                                </m:sSupPr>
                                <m:e>
                                  <m:r>
                                    <a:rPr lang="en-IN" sz="1000" i="1">
                                      <a:latin typeface="Cambria Math" panose="02040503050406030204" pitchFamily="18" charset="0"/>
                                    </a:rPr>
                                    <m:t>𝑟</m:t>
                                  </m:r>
                                </m:e>
                                <m:sup>
                                  <m:r>
                                    <a:rPr lang="en-IN" sz="1000" i="0">
                                      <a:latin typeface="Cambria Math" panose="02040503050406030204" pitchFamily="18" charset="0"/>
                                    </a:rPr>
                                    <m:t>2</m:t>
                                  </m:r>
                                </m:sup>
                              </m:sSup>
                            </m:oMath>
                          </a14:m>
                          <a:r>
                            <a:rPr lang="en-IN" sz="1000" dirty="0">
                              <a:solidFill>
                                <a:srgbClr val="1F1F1F"/>
                              </a:solidFill>
                              <a:effectLst/>
                              <a:latin typeface="Times New Roman" panose="02020603050405020304" pitchFamily="18" charset="0"/>
                              <a:cs typeface="Times New Roman" panose="02020603050405020304" pitchFamily="18" charset="0"/>
                            </a:rPr>
                            <a:t>) over standard baselines, matching or exceeding satellite-based benchmarks with high sample efficiency.</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Naive querying using raw geographic coordinates alone fails, requiring external map data structures to prompt effectively.</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570278687"/>
                      </a:ext>
                    </a:extLst>
                  </a:tr>
                </a:tbl>
              </a:graphicData>
            </a:graphic>
          </p:graphicFrame>
        </mc:Choice>
        <mc:Fallback>
          <p:graphicFrame>
            <p:nvGraphicFramePr>
              <p:cNvPr id="3" name="Table 2">
                <a:extLst>
                  <a:ext uri="{FF2B5EF4-FFF2-40B4-BE49-F238E27FC236}">
                    <a16:creationId xmlns:a16="http://schemas.microsoft.com/office/drawing/2014/main" id="{11F2AAAF-FB53-B8C2-ED44-E0FC8448A555}"/>
                  </a:ext>
                </a:extLst>
              </p:cNvPr>
              <p:cNvGraphicFramePr>
                <a:graphicFrameLocks noGrp="1"/>
              </p:cNvGraphicFramePr>
              <p:nvPr>
                <p:extLst>
                  <p:ext uri="{D42A27DB-BD31-4B8C-83A1-F6EECF244321}">
                    <p14:modId xmlns:p14="http://schemas.microsoft.com/office/powerpoint/2010/main" val="981920732"/>
                  </p:ext>
                </p:extLst>
              </p:nvPr>
            </p:nvGraphicFramePr>
            <p:xfrm>
              <a:off x="0" y="-4109"/>
              <a:ext cx="9144001" cy="5281950"/>
            </p:xfrm>
            <a:graphic>
              <a:graphicData uri="http://schemas.openxmlformats.org/drawingml/2006/table">
                <a:tbl>
                  <a:tblPr/>
                  <a:tblGrid>
                    <a:gridCol w="541016">
                      <a:extLst>
                        <a:ext uri="{9D8B030D-6E8A-4147-A177-3AD203B41FA5}">
                          <a16:colId xmlns:a16="http://schemas.microsoft.com/office/drawing/2014/main" val="1060810004"/>
                        </a:ext>
                      </a:extLst>
                    </a:gridCol>
                    <a:gridCol w="802009">
                      <a:extLst>
                        <a:ext uri="{9D8B030D-6E8A-4147-A177-3AD203B41FA5}">
                          <a16:colId xmlns:a16="http://schemas.microsoft.com/office/drawing/2014/main" val="4115102136"/>
                        </a:ext>
                      </a:extLst>
                    </a:gridCol>
                    <a:gridCol w="1950244">
                      <a:extLst>
                        <a:ext uri="{9D8B030D-6E8A-4147-A177-3AD203B41FA5}">
                          <a16:colId xmlns:a16="http://schemas.microsoft.com/office/drawing/2014/main" val="3399050982"/>
                        </a:ext>
                      </a:extLst>
                    </a:gridCol>
                    <a:gridCol w="1950244">
                      <a:extLst>
                        <a:ext uri="{9D8B030D-6E8A-4147-A177-3AD203B41FA5}">
                          <a16:colId xmlns:a16="http://schemas.microsoft.com/office/drawing/2014/main" val="1618201378"/>
                        </a:ext>
                      </a:extLst>
                    </a:gridCol>
                    <a:gridCol w="1950244">
                      <a:extLst>
                        <a:ext uri="{9D8B030D-6E8A-4147-A177-3AD203B41FA5}">
                          <a16:colId xmlns:a16="http://schemas.microsoft.com/office/drawing/2014/main" val="275247093"/>
                        </a:ext>
                      </a:extLst>
                    </a:gridCol>
                    <a:gridCol w="1950244">
                      <a:extLst>
                        <a:ext uri="{9D8B030D-6E8A-4147-A177-3AD203B41FA5}">
                          <a16:colId xmlns:a16="http://schemas.microsoft.com/office/drawing/2014/main" val="1637992676"/>
                        </a:ext>
                      </a:extLst>
                    </a:gridCol>
                  </a:tblGrid>
                  <a:tr h="322564">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Sr. No.</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Ref.</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Methodologies</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Objectives</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Advantages</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Limitations/Research Gaps</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633283967"/>
                      </a:ext>
                    </a:extLst>
                  </a:tr>
                  <a:tr h="915626">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1</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a:solidFill>
                                <a:srgbClr val="000000"/>
                              </a:solidFill>
                              <a:effectLst/>
                              <a:latin typeface="Times New Roman" panose="02020603050405020304" pitchFamily="18" charset="0"/>
                              <a:cs typeface="Times New Roman" panose="02020603050405020304" pitchFamily="18" charset="0"/>
                              <a:hlinkClick r:id="rId2"/>
                            </a:rPr>
                            <a:t>T&amp;F: 10.1080/17538947.2023.2278895</a:t>
                          </a: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Prototype system </a:t>
                          </a:r>
                          <a:r>
                            <a:rPr lang="en-IN" sz="1000" b="0" i="0" dirty="0">
                              <a:solidFill>
                                <a:srgbClr val="1F1F1F"/>
                              </a:solidFill>
                              <a:effectLst/>
                              <a:latin typeface="Times New Roman" panose="02020603050405020304" pitchFamily="18" charset="0"/>
                              <a:cs typeface="Times New Roman" panose="02020603050405020304" pitchFamily="18" charset="0"/>
                            </a:rPr>
                            <a:t>LLM-Geo</a:t>
                          </a:r>
                          <a:r>
                            <a:rPr lang="en-IN" sz="1000" dirty="0">
                              <a:solidFill>
                                <a:srgbClr val="1F1F1F"/>
                              </a:solidFill>
                              <a:effectLst/>
                              <a:latin typeface="Times New Roman" panose="02020603050405020304" pitchFamily="18" charset="0"/>
                              <a:cs typeface="Times New Roman" panose="02020603050405020304" pitchFamily="18" charset="0"/>
                            </a:rPr>
                            <a:t> using the GPT-4 API to combine natural language understanding, reasoning, and automated code generation.</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develop an Autonomous GIS that addresses spatial problems across five goals: self-generating, self-organizing, self-verifying, self-executing, and self-growing.</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Generates accurate maps, graphs, and aggregated numbers automatically without human intervention.</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a:solidFill>
                                <a:srgbClr val="1F1F1F"/>
                              </a:solidFill>
                              <a:effectLst/>
                              <a:latin typeface="Times New Roman" panose="02020603050405020304" pitchFamily="18" charset="0"/>
                              <a:cs typeface="Times New Roman" panose="02020603050405020304" pitchFamily="18" charset="0"/>
                            </a:rPr>
                            <a:t>Still in its infancy; currently lacks critical operational modules such as logging and code testing.</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884981444"/>
                      </a:ext>
                    </a:extLst>
                  </a:tr>
                  <a:tr h="1034238">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2</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err="1">
                              <a:solidFill>
                                <a:srgbClr val="000000"/>
                              </a:solidFill>
                              <a:effectLst/>
                              <a:latin typeface="Times New Roman" panose="02020603050405020304" pitchFamily="18" charset="0"/>
                              <a:cs typeface="Times New Roman" panose="02020603050405020304" pitchFamily="18" charset="0"/>
                              <a:hlinkClick r:id="rId3"/>
                            </a:rPr>
                            <a:t>arXiv</a:t>
                          </a:r>
                          <a:r>
                            <a:rPr lang="en-IN" sz="1100" dirty="0">
                              <a:solidFill>
                                <a:srgbClr val="000000"/>
                              </a:solidFill>
                              <a:effectLst/>
                              <a:latin typeface="Times New Roman" panose="02020603050405020304" pitchFamily="18" charset="0"/>
                              <a:cs typeface="Times New Roman" panose="02020603050405020304" pitchFamily="18" charset="0"/>
                              <a:hlinkClick r:id="rId3"/>
                            </a:rPr>
                            <a:t>: 2510.21045</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Multi-agent framework utilizing staged interpretation, schema grounding, logical planning, SQL generation, and execution-based review.</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overcome spatial Text-to-SQL complexity (geographic intent, coordinate systems, and spatial function choice) over </a:t>
                          </a:r>
                          <a:r>
                            <a:rPr lang="en-IN" sz="1000" dirty="0" err="1">
                              <a:solidFill>
                                <a:srgbClr val="1F1F1F"/>
                              </a:solidFill>
                              <a:effectLst/>
                              <a:latin typeface="Times New Roman" panose="02020603050405020304" pitchFamily="18" charset="0"/>
                              <a:cs typeface="Times New Roman" panose="02020603050405020304" pitchFamily="18" charset="0"/>
                            </a:rPr>
                            <a:t>PostGIS</a:t>
                          </a:r>
                          <a:r>
                            <a:rPr lang="en-IN" sz="1000" dirty="0">
                              <a:solidFill>
                                <a:srgbClr val="1F1F1F"/>
                              </a:solidFill>
                              <a:effectLst/>
                              <a:latin typeface="Times New Roman" panose="02020603050405020304" pitchFamily="18" charset="0"/>
                              <a:cs typeface="Times New Roman" panose="02020603050405020304" pitchFamily="18" charset="0"/>
                            </a:rPr>
                            <a:t> databases.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Achieved 87.7% accuracy on the </a:t>
                          </a:r>
                          <a:r>
                            <a:rPr lang="en-IN" sz="1000" dirty="0" err="1">
                              <a:solidFill>
                                <a:srgbClr val="1F1F1F"/>
                              </a:solidFill>
                              <a:effectLst/>
                              <a:latin typeface="Times New Roman" panose="02020603050405020304" pitchFamily="18" charset="0"/>
                              <a:cs typeface="Times New Roman" panose="02020603050405020304" pitchFamily="18" charset="0"/>
                            </a:rPr>
                            <a:t>SpatialQueryQA</a:t>
                          </a:r>
                          <a:r>
                            <a:rPr lang="en-IN" sz="1000" dirty="0">
                              <a:solidFill>
                                <a:srgbClr val="1F1F1F"/>
                              </a:solidFill>
                              <a:effectLst/>
                              <a:latin typeface="Times New Roman" panose="02020603050405020304" pitchFamily="18" charset="0"/>
                              <a:cs typeface="Times New Roman" panose="02020603050405020304" pitchFamily="18" charset="0"/>
                            </a:rPr>
                            <a:t> benchmark, demonstrating that review agents significantly boost query robustness.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sz="1000" dirty="0">
                              <a:solidFill>
                                <a:srgbClr val="1F1F1F"/>
                              </a:solidFill>
                              <a:effectLst/>
                              <a:latin typeface="Times New Roman" panose="02020603050405020304" pitchFamily="18" charset="0"/>
                              <a:cs typeface="Times New Roman" panose="02020603050405020304" pitchFamily="18" charset="0"/>
                            </a:rPr>
                            <a:t>Geodesic-vs-planar distance errors and incorrect aggregation logic on complex multi-step queries.</a:t>
                          </a:r>
                          <a:endParaRPr lang="en-IN" sz="1000" dirty="0">
                            <a:solidFill>
                              <a:srgbClr val="1F1F1F"/>
                            </a:solidFill>
                            <a:effectLst/>
                            <a:latin typeface="Times New Roman" panose="02020603050405020304" pitchFamily="18" charset="0"/>
                            <a:cs typeface="Times New Roman" panose="02020603050405020304" pitchFamily="18" charset="0"/>
                          </a:endParaRP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200933119"/>
                      </a:ext>
                    </a:extLst>
                  </a:tr>
                  <a:tr h="1152851">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3</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a:solidFill>
                                <a:srgbClr val="000000"/>
                              </a:solidFill>
                              <a:effectLst/>
                              <a:latin typeface="Times New Roman" panose="02020603050405020304" pitchFamily="18" charset="0"/>
                              <a:cs typeface="Times New Roman" panose="02020603050405020304" pitchFamily="18" charset="0"/>
                              <a:hlinkClick r:id="rId4"/>
                            </a:rPr>
                            <a:t>IEEE: 10824870</a:t>
                          </a: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Two-phase framework (</a:t>
                          </a:r>
                          <a:r>
                            <a:rPr lang="en-IN" sz="1000" b="0" i="0" dirty="0" err="1">
                              <a:solidFill>
                                <a:srgbClr val="1F1F1F"/>
                              </a:solidFill>
                              <a:effectLst/>
                              <a:latin typeface="Times New Roman" panose="02020603050405020304" pitchFamily="18" charset="0"/>
                              <a:cs typeface="Times New Roman" panose="02020603050405020304" pitchFamily="18" charset="0"/>
                            </a:rPr>
                            <a:t>NALSpatial</a:t>
                          </a:r>
                          <a:r>
                            <a:rPr lang="en-IN" sz="1000" dirty="0">
                              <a:solidFill>
                                <a:srgbClr val="1F1F1F"/>
                              </a:solidFill>
                              <a:effectLst/>
                              <a:latin typeface="Times New Roman" panose="02020603050405020304" pitchFamily="18" charset="0"/>
                              <a:cs typeface="Times New Roman" panose="02020603050405020304" pitchFamily="18" charset="0"/>
                            </a:rPr>
                            <a:t>) combining NLP entity extraction/intent detection with mapping rules and structured language models in seconds.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translate non-expert natural language queries into executable spatial database queries (range, </a:t>
                          </a:r>
                          <a:r>
                            <a:rPr lang="en-IN" sz="1000" dirty="0" err="1">
                              <a:solidFill>
                                <a:srgbClr val="1F1F1F"/>
                              </a:solidFill>
                              <a:effectLst/>
                              <a:latin typeface="Times New Roman" panose="02020603050405020304" pitchFamily="18" charset="0"/>
                              <a:cs typeface="Times New Roman" panose="02020603050405020304" pitchFamily="18" charset="0"/>
                            </a:rPr>
                            <a:t>kNN</a:t>
                          </a:r>
                          <a:r>
                            <a:rPr lang="en-IN" sz="1000" dirty="0">
                              <a:solidFill>
                                <a:srgbClr val="1F1F1F"/>
                              </a:solidFill>
                              <a:effectLst/>
                              <a:latin typeface="Times New Roman" panose="02020603050405020304" pitchFamily="18" charset="0"/>
                              <a:cs typeface="Times New Roman" panose="02020603050405020304" pitchFamily="18" charset="0"/>
                            </a:rPr>
                            <a:t>, spatial join, aggregation).</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Fast average response time (~2.5s) with 95% translatability and 92% precision, outperforming state-of-the-art baselines.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Translation accuracy relies heavily on predefined entity mapping rules and predefined spatial query categories.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13217486"/>
                      </a:ext>
                    </a:extLst>
                  </a:tr>
                  <a:tr h="797014">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4</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a:solidFill>
                                <a:srgbClr val="000000"/>
                              </a:solidFill>
                              <a:effectLst/>
                              <a:latin typeface="Times New Roman" panose="02020603050405020304" pitchFamily="18" charset="0"/>
                              <a:cs typeface="Times New Roman" panose="02020603050405020304" pitchFamily="18" charset="0"/>
                              <a:hlinkClick r:id="rId5"/>
                            </a:rPr>
                            <a:t>IEEE: 10651125</a:t>
                          </a: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b="0" i="0" dirty="0">
                              <a:solidFill>
                                <a:srgbClr val="1F1F1F"/>
                              </a:solidFill>
                              <a:effectLst/>
                              <a:latin typeface="Times New Roman" panose="02020603050405020304" pitchFamily="18" charset="0"/>
                              <a:cs typeface="Times New Roman" panose="02020603050405020304" pitchFamily="18" charset="0"/>
                            </a:rPr>
                            <a:t>GS-SQL</a:t>
                          </a:r>
                          <a:r>
                            <a:rPr lang="en-IN" sz="1000" dirty="0">
                              <a:solidFill>
                                <a:srgbClr val="1F1F1F"/>
                              </a:solidFill>
                              <a:effectLst/>
                              <a:latin typeface="Times New Roman" panose="02020603050405020304" pitchFamily="18" charset="0"/>
                              <a:cs typeface="Times New Roman" panose="02020603050405020304" pitchFamily="18" charset="0"/>
                            </a:rPr>
                            <a:t> framework incorporating an improved Abstract Syntax Tree (AST), spatial entity tagging, and spatial semantic extraction evaluated on </a:t>
                          </a:r>
                          <a:r>
                            <a:rPr lang="en-IN" sz="1000" b="0" i="0" dirty="0" err="1">
                              <a:solidFill>
                                <a:srgbClr val="1F1F1F"/>
                              </a:solidFill>
                              <a:effectLst/>
                              <a:latin typeface="Times New Roman" panose="02020603050405020304" pitchFamily="18" charset="0"/>
                              <a:cs typeface="Times New Roman" panose="02020603050405020304" pitchFamily="18" charset="0"/>
                            </a:rPr>
                            <a:t>GeoSpatialSpider</a:t>
                          </a:r>
                          <a:r>
                            <a:rPr lang="en-IN" sz="1000" dirty="0">
                              <a:solidFill>
                                <a:srgbClr val="1F1F1F"/>
                              </a:solidFill>
                              <a:effectLst/>
                              <a:latin typeface="Times New Roman" panose="02020603050405020304" pitchFamily="18" charset="0"/>
                              <a:cs typeface="Times New Roman" panose="02020603050405020304" pitchFamily="18" charset="0"/>
                            </a:rPr>
                            <a:t>.</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jointly model schema item alignment and geospatial semantics to generate nested SQL queries and spatial functions.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Successfully parses complex geospatial semantics while preserving traditional cross-domain Text-to-SQL performance.</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sz="1000" dirty="0">
                              <a:solidFill>
                                <a:srgbClr val="1F1F1F"/>
                              </a:solidFill>
                              <a:effectLst/>
                              <a:latin typeface="Times New Roman" panose="02020603050405020304" pitchFamily="18" charset="0"/>
                              <a:cs typeface="Times New Roman" panose="02020603050405020304" pitchFamily="18" charset="0"/>
                            </a:rPr>
                            <a:t>Accuracy falls well below single-parameter functions when handling two-parameter spatial functions requiring entity-relationship reasoning.</a:t>
                          </a:r>
                          <a:endParaRPr lang="en-IN" sz="1000" dirty="0">
                            <a:solidFill>
                              <a:srgbClr val="1F1F1F"/>
                            </a:solidFill>
                            <a:effectLst/>
                            <a:latin typeface="Times New Roman" panose="02020603050405020304" pitchFamily="18" charset="0"/>
                            <a:cs typeface="Times New Roman" panose="02020603050405020304" pitchFamily="18" charset="0"/>
                          </a:endParaRP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74315275"/>
                      </a:ext>
                    </a:extLst>
                  </a:tr>
                  <a:tr h="1059657">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5</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err="1">
                              <a:solidFill>
                                <a:srgbClr val="000000"/>
                              </a:solidFill>
                              <a:effectLst/>
                              <a:latin typeface="Times New Roman" panose="02020603050405020304" pitchFamily="18" charset="0"/>
                              <a:cs typeface="Times New Roman" panose="02020603050405020304" pitchFamily="18" charset="0"/>
                              <a:hlinkClick r:id="rId6"/>
                            </a:rPr>
                            <a:t>arXiv</a:t>
                          </a:r>
                          <a:r>
                            <a:rPr lang="en-IN" sz="1100" dirty="0">
                              <a:solidFill>
                                <a:srgbClr val="000000"/>
                              </a:solidFill>
                              <a:effectLst/>
                              <a:latin typeface="Times New Roman" panose="02020603050405020304" pitchFamily="18" charset="0"/>
                              <a:cs typeface="Times New Roman" panose="02020603050405020304" pitchFamily="18" charset="0"/>
                              <a:hlinkClick r:id="rId6"/>
                            </a:rPr>
                            <a:t>: 2310.06213</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b="0" i="0" dirty="0" err="1">
                              <a:solidFill>
                                <a:srgbClr val="1F1F1F"/>
                              </a:solidFill>
                              <a:effectLst/>
                              <a:latin typeface="Times New Roman" panose="02020603050405020304" pitchFamily="18" charset="0"/>
                              <a:cs typeface="Times New Roman" panose="02020603050405020304" pitchFamily="18" charset="0"/>
                            </a:rPr>
                            <a:t>GeoLLM</a:t>
                          </a:r>
                          <a:r>
                            <a:rPr lang="en-IN" sz="1000" dirty="0">
                              <a:solidFill>
                                <a:srgbClr val="1F1F1F"/>
                              </a:solidFill>
                              <a:effectLst/>
                              <a:latin typeface="Times New Roman" panose="02020603050405020304" pitchFamily="18" charset="0"/>
                              <a:cs typeface="Times New Roman" panose="02020603050405020304" pitchFamily="18" charset="0"/>
                            </a:rPr>
                            <a:t> method extracting LLM knowledge (e.g., GPT-3.5) by combining model representations with auxiliary OpenStreetMap data.</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leverage LLMs for predicting spatial indicators like population density and economic livelihoods without relying solely on satellite imagery.</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endParaRPr lang="en-US"/>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blipFill>
                          <a:blip r:embed="rId7"/>
                          <a:stretch>
                            <a:fillRect l="-269375" t="-398851" r="-100312" b="-1149"/>
                          </a:stretch>
                        </a:blip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Naive querying using raw geographic coordinates alone fails, requiring external map data structures to prompt effectively.</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570278687"/>
                      </a:ext>
                    </a:extLst>
                  </a:tr>
                </a:tbl>
              </a:graphicData>
            </a:graphic>
          </p:graphicFrame>
        </mc:Fallback>
      </mc:AlternateContent>
    </p:spTree>
    <p:extLst>
      <p:ext uri="{BB962C8B-B14F-4D97-AF65-F5344CB8AC3E}">
        <p14:creationId xmlns:p14="http://schemas.microsoft.com/office/powerpoint/2010/main" val="4091783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68CE9A4B-1BC5-EDDC-DDF9-8A843B22D1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E7B7799-57D3-3B36-2C1C-488C57171A0E}"/>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8777A6F2-ACBE-0CA8-DB4F-51E39514C115}"/>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67F3661D-3CB3-8D25-DFE1-7B6446D6B48B}"/>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D2C202CF-C80B-111C-DDC9-C3B98D4997F9}"/>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E2504994-5784-72D1-D5A0-DDEA4CD242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9E48F8C2-FD66-CE97-8565-98DF4A7F797B}"/>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4" name="Google Shape;62;p13">
            <a:extLst>
              <a:ext uri="{FF2B5EF4-FFF2-40B4-BE49-F238E27FC236}">
                <a16:creationId xmlns:a16="http://schemas.microsoft.com/office/drawing/2014/main" id="{B1D2D339-F7DC-8104-9E6A-5478BFCF2C71}"/>
              </a:ext>
            </a:extLst>
          </p:cNvPr>
          <p:cNvSpPr txBox="1"/>
          <p:nvPr/>
        </p:nvSpPr>
        <p:spPr>
          <a:xfrm>
            <a:off x="300000" y="1300000"/>
            <a:ext cx="850000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dirty="0">
                <a:solidFill>
                  <a:srgbClr val="C00000"/>
                </a:solidFill>
                <a:latin typeface="Times New Roman"/>
                <a:ea typeface="Times New Roman"/>
                <a:cs typeface="Times New Roman"/>
                <a:sym typeface="Times New Roman"/>
              </a:rPr>
              <a:t>Time Plan</a:t>
            </a:r>
            <a:endParaRPr sz="1800" dirty="0">
              <a:solidFill>
                <a:srgbClr val="000000"/>
              </a:solidFill>
              <a:latin typeface="Times New Roman"/>
              <a:ea typeface="Times New Roman"/>
              <a:cs typeface="Times New Roman"/>
              <a:sym typeface="Times New Roman"/>
            </a:endParaRPr>
          </a:p>
        </p:txBody>
      </p:sp>
      <p:pic>
        <p:nvPicPr>
          <p:cNvPr id="10" name="Picture 9">
            <a:extLst>
              <a:ext uri="{FF2B5EF4-FFF2-40B4-BE49-F238E27FC236}">
                <a16:creationId xmlns:a16="http://schemas.microsoft.com/office/drawing/2014/main" id="{53098F59-7DBC-0157-5BE2-9DC676E40C58}"/>
              </a:ext>
            </a:extLst>
          </p:cNvPr>
          <p:cNvPicPr>
            <a:picLocks noChangeAspect="1"/>
          </p:cNvPicPr>
          <p:nvPr/>
        </p:nvPicPr>
        <p:blipFill>
          <a:blip r:embed="rId4"/>
          <a:srcRect t="11968" b="14717"/>
          <a:stretch>
            <a:fillRect/>
          </a:stretch>
        </p:blipFill>
        <p:spPr>
          <a:xfrm>
            <a:off x="61474" y="1800191"/>
            <a:ext cx="8738525" cy="2689019"/>
          </a:xfrm>
          <a:prstGeom prst="rect">
            <a:avLst/>
          </a:prstGeom>
        </p:spPr>
      </p:pic>
    </p:spTree>
    <p:extLst>
      <p:ext uri="{BB962C8B-B14F-4D97-AF65-F5344CB8AC3E}">
        <p14:creationId xmlns:p14="http://schemas.microsoft.com/office/powerpoint/2010/main" val="2039672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D249E2FF-7DD9-EC1B-AD92-B5825BFFFF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654F3DF-D776-9C44-4AB0-01A9D9E44D83}"/>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FE14819B-A2A4-F82D-EAEC-06D3F1AE8F22}"/>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AE4DCA9F-17A9-DFB5-CE57-FF3FEBFE31AD}"/>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A2BA4D17-A024-D182-7185-0F2AA82B8EB1}"/>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747ECE37-1D4A-CB6B-3EC5-211363DE71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A0D94E51-6F52-94FE-7C86-426F8587AFAC}"/>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11" name="Google Shape;62;p13">
            <a:extLst>
              <a:ext uri="{FF2B5EF4-FFF2-40B4-BE49-F238E27FC236}">
                <a16:creationId xmlns:a16="http://schemas.microsoft.com/office/drawing/2014/main" id="{A4BD19CF-2634-830F-A672-136164E3A4ED}"/>
              </a:ext>
            </a:extLst>
          </p:cNvPr>
          <p:cNvSpPr txBox="1"/>
          <p:nvPr/>
        </p:nvSpPr>
        <p:spPr>
          <a:xfrm>
            <a:off x="300000" y="1300000"/>
            <a:ext cx="8500000" cy="42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dirty="0">
                <a:solidFill>
                  <a:srgbClr val="C00000"/>
                </a:solidFill>
                <a:latin typeface="Times New Roman"/>
                <a:ea typeface="Times New Roman"/>
                <a:cs typeface="Times New Roman"/>
                <a:sym typeface="Times New Roman"/>
              </a:rPr>
              <a:t>Problem Statement</a:t>
            </a:r>
            <a:endParaRPr sz="1800" dirty="0">
              <a:solidFill>
                <a:srgbClr val="000000"/>
              </a:solidFill>
              <a:latin typeface="Times New Roman"/>
              <a:ea typeface="Times New Roman"/>
              <a:cs typeface="Times New Roman"/>
              <a:sym typeface="Times New Roman"/>
            </a:endParaRPr>
          </a:p>
        </p:txBody>
      </p:sp>
      <p:sp>
        <p:nvSpPr>
          <p:cNvPr id="13" name="TextBox 12">
            <a:extLst>
              <a:ext uri="{FF2B5EF4-FFF2-40B4-BE49-F238E27FC236}">
                <a16:creationId xmlns:a16="http://schemas.microsoft.com/office/drawing/2014/main" id="{D5299837-CD29-4FF5-BEE9-5C18315A4BC8}"/>
              </a:ext>
            </a:extLst>
          </p:cNvPr>
          <p:cNvSpPr txBox="1"/>
          <p:nvPr/>
        </p:nvSpPr>
        <p:spPr>
          <a:xfrm>
            <a:off x="374386" y="1859048"/>
            <a:ext cx="8535619" cy="2123658"/>
          </a:xfrm>
          <a:prstGeom prst="rect">
            <a:avLst/>
          </a:prstGeom>
          <a:noFill/>
        </p:spPr>
        <p:txBody>
          <a:bodyPr wrap="square">
            <a:spAutoFit/>
          </a:bodyPr>
          <a:lstStyle/>
          <a:p>
            <a:pPr marL="342900" lvl="0" indent="-34290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Traditional GIS tools require technical expertise in spatial data, SQL and specialized software a major barrier for non-technical users.</a:t>
            </a:r>
          </a:p>
          <a:p>
            <a:pPr marL="342900" lvl="0" indent="-342900">
              <a:buFont typeface="Arial" panose="020B0604020202020204" pitchFamily="34" charset="0"/>
              <a:buChar char="•"/>
            </a:pPr>
            <a:endParaRPr lang="en-IN" sz="12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Location suitability is inherently context-dependent: the factors that matter for siting a clinic (accessibility, population) differ from those for a café (footfall, competition)  a single fixed scoring formula cannot capture this.</a:t>
            </a:r>
          </a:p>
          <a:p>
            <a:pPr marL="342900" lvl="0" indent="-342900">
              <a:buFont typeface="Arial" panose="020B0604020202020204" pitchFamily="34" charset="0"/>
              <a:buChar char="•"/>
            </a:pPr>
            <a:endParaRPr lang="en-IN" sz="12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Reliable natural-language-to-spatial-SQL translation is a hard, safety-critical problem: queries must be correctly grounded, generated and verified before execution.</a:t>
            </a:r>
          </a:p>
          <a:p>
            <a:pPr marL="342900" lvl="0" indent="-342900">
              <a:buFont typeface="Arial" panose="020B0604020202020204" pitchFamily="34" charset="0"/>
              <a:buChar char="•"/>
            </a:pPr>
            <a:endParaRPr lang="en-IN" sz="12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Decisions grounded only in road/amenity data ignore population, time-of-day mobility and environmental context all of which materially affect location suitability.</a:t>
            </a:r>
          </a:p>
        </p:txBody>
      </p:sp>
    </p:spTree>
    <p:extLst>
      <p:ext uri="{BB962C8B-B14F-4D97-AF65-F5344CB8AC3E}">
        <p14:creationId xmlns:p14="http://schemas.microsoft.com/office/powerpoint/2010/main" val="1528046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E042AFBC-0F34-071C-C7E7-F6671D3A839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9E95FD-1A15-9D49-CD9D-67F3571C21B8}"/>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D009482E-1402-62EF-8B26-3F782C34AE58}"/>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4BA212AB-52D0-C3BB-66B5-98AF3FBE67CD}"/>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594EA521-3467-BD56-2E89-E0F393C852E8}"/>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6B54CA6D-9999-2350-B94A-BC4ACA792F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9AECDC81-0EDA-1612-6950-1674B5D9204B}"/>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11" name="Google Shape;62;p13">
            <a:extLst>
              <a:ext uri="{FF2B5EF4-FFF2-40B4-BE49-F238E27FC236}">
                <a16:creationId xmlns:a16="http://schemas.microsoft.com/office/drawing/2014/main" id="{D14D3D37-2526-2677-6E4B-205CADD679CA}"/>
              </a:ext>
            </a:extLst>
          </p:cNvPr>
          <p:cNvSpPr txBox="1"/>
          <p:nvPr/>
        </p:nvSpPr>
        <p:spPr>
          <a:xfrm>
            <a:off x="300000" y="1300000"/>
            <a:ext cx="8500000" cy="400069"/>
          </a:xfrm>
          <a:prstGeom prst="rect">
            <a:avLst/>
          </a:prstGeom>
          <a:noFill/>
          <a:ln>
            <a:noFill/>
          </a:ln>
        </p:spPr>
        <p:txBody>
          <a:bodyPr spcFirstLastPara="1" wrap="square" lIns="91425" tIns="45700" rIns="91425" bIns="45700" anchor="t" anchorCtr="0">
            <a:spAutoFit/>
          </a:bodyPr>
          <a:lstStyle/>
          <a:p>
            <a:pPr lvl="0"/>
            <a:r>
              <a:rPr lang="en-IN" sz="2000" b="1" dirty="0">
                <a:solidFill>
                  <a:srgbClr val="C00000"/>
                </a:solidFill>
                <a:latin typeface="Times New Roman"/>
                <a:ea typeface="Times New Roman"/>
                <a:cs typeface="Times New Roman"/>
                <a:sym typeface="Times New Roman"/>
              </a:rPr>
              <a:t>Objectives of Project</a:t>
            </a:r>
            <a:endParaRPr lang="en-IN" sz="1800" dirty="0">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4FA312B4-0AD8-72AA-BC7A-C725B5109574}"/>
              </a:ext>
            </a:extLst>
          </p:cNvPr>
          <p:cNvSpPr txBox="1"/>
          <p:nvPr/>
        </p:nvSpPr>
        <p:spPr>
          <a:xfrm>
            <a:off x="374386" y="1859048"/>
            <a:ext cx="8535619" cy="2031325"/>
          </a:xfrm>
          <a:prstGeom prst="rect">
            <a:avLst/>
          </a:prstGeom>
          <a:noFill/>
        </p:spPr>
        <p:txBody>
          <a:bodyPr wrap="square">
            <a:spAutoFit/>
          </a:bodyPr>
          <a:lstStyle/>
          <a:p>
            <a:pPr marL="0" indent="0" algn="just">
              <a:lnSpc>
                <a:spcPct val="115000"/>
              </a:lnSpc>
              <a:buNone/>
            </a:pPr>
            <a:r>
              <a:rPr lang="en-US" sz="1400" dirty="0">
                <a:latin typeface="Times New Roman" panose="02020603050405020304" pitchFamily="18" charset="0"/>
                <a:cs typeface="Times New Roman" panose="02020603050405020304" pitchFamily="18" charset="0"/>
              </a:rPr>
              <a:t>The objective of this project is to simplify site selection by helping businesses find and evaluate new locations without manual survey work. The system automatically produces a data-grounded cost estimate, covering rent, setup and licenses, for any chosen spot, and lets users compare locations side by side on nearby comparables, footfall and amenity density, safety and transit access. By replacing scattered manual research across multiple sources with a single natural-language query, it removes the hassle of data gathering and saves both time and cost, delivering instant, grounded answers in place of weeks of on-ground survey.</a:t>
            </a:r>
          </a:p>
        </p:txBody>
      </p:sp>
    </p:spTree>
    <p:extLst>
      <p:ext uri="{BB962C8B-B14F-4D97-AF65-F5344CB8AC3E}">
        <p14:creationId xmlns:p14="http://schemas.microsoft.com/office/powerpoint/2010/main" val="2609091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9AC9D310-4864-5590-01EC-E271D477233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86D6B1-412D-B9E1-2B60-E93887B2BB76}"/>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E47EBBBB-2103-581C-62AE-3A6C94A9BB61}"/>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4A189411-E6B6-3AD2-F9D7-14323DAF38C3}"/>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2B64D24D-6253-C5A7-684B-84D557D646E1}"/>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0F8827DB-DDB0-6DA0-5EBE-F1CDA01C8D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86719920-E6A2-6F3A-5ED0-756DB9F14FA5}"/>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5" name="Google Shape;62;p13">
            <a:extLst>
              <a:ext uri="{FF2B5EF4-FFF2-40B4-BE49-F238E27FC236}">
                <a16:creationId xmlns:a16="http://schemas.microsoft.com/office/drawing/2014/main" id="{4F3B70C8-3900-6C02-0754-2639E651B4B2}"/>
              </a:ext>
            </a:extLst>
          </p:cNvPr>
          <p:cNvSpPr txBox="1"/>
          <p:nvPr/>
        </p:nvSpPr>
        <p:spPr>
          <a:xfrm>
            <a:off x="300000" y="1300000"/>
            <a:ext cx="8500000" cy="42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dirty="0">
                <a:solidFill>
                  <a:srgbClr val="C00000"/>
                </a:solidFill>
                <a:latin typeface="Times New Roman"/>
                <a:ea typeface="Times New Roman"/>
                <a:cs typeface="Times New Roman"/>
                <a:sym typeface="Times New Roman"/>
              </a:rPr>
              <a:t>Proposed System Implementation</a:t>
            </a:r>
            <a:endParaRPr sz="1800" dirty="0">
              <a:solidFill>
                <a:srgbClr val="000000"/>
              </a:solidFill>
              <a:latin typeface="Times New Roman"/>
              <a:ea typeface="Times New Roman"/>
              <a:cs typeface="Times New Roman"/>
              <a:sym typeface="Times New Roman"/>
            </a:endParaRPr>
          </a:p>
        </p:txBody>
      </p:sp>
      <p:pic>
        <p:nvPicPr>
          <p:cNvPr id="9" name="Graphic 8">
            <a:extLst>
              <a:ext uri="{FF2B5EF4-FFF2-40B4-BE49-F238E27FC236}">
                <a16:creationId xmlns:a16="http://schemas.microsoft.com/office/drawing/2014/main" id="{6BEE846D-440B-1C8A-C0EF-EAD5518C6F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0000" y="1799689"/>
            <a:ext cx="8379901" cy="2113284"/>
          </a:xfrm>
          <a:prstGeom prst="rect">
            <a:avLst/>
          </a:prstGeom>
        </p:spPr>
      </p:pic>
    </p:spTree>
    <p:extLst>
      <p:ext uri="{BB962C8B-B14F-4D97-AF65-F5344CB8AC3E}">
        <p14:creationId xmlns:p14="http://schemas.microsoft.com/office/powerpoint/2010/main" val="565558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F595A196-97FE-9954-F1EC-82965F4DB7D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3A2C98-B050-3FA8-0EA5-45B47A4F1BBB}"/>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13ACC7ED-F50D-7213-8030-DE221060CC72}"/>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C52AAFEC-4209-21DB-A013-A3290BA980D8}"/>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3C9A2E38-3EEC-A06C-9B42-E413AB4C11CC}"/>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sp>
        <p:nvSpPr>
          <p:cNvPr id="7" name="Google Shape;59;p13">
            <a:extLst>
              <a:ext uri="{FF2B5EF4-FFF2-40B4-BE49-F238E27FC236}">
                <a16:creationId xmlns:a16="http://schemas.microsoft.com/office/drawing/2014/main" id="{175BCBB2-1AAF-B6E2-FB55-7AC631C27728}"/>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pic>
        <p:nvPicPr>
          <p:cNvPr id="12" name="Picture 11">
            <a:extLst>
              <a:ext uri="{FF2B5EF4-FFF2-40B4-BE49-F238E27FC236}">
                <a16:creationId xmlns:a16="http://schemas.microsoft.com/office/drawing/2014/main" id="{F168BE41-CE36-5391-CE49-3BA94953A007}"/>
              </a:ext>
            </a:extLst>
          </p:cNvPr>
          <p:cNvPicPr>
            <a:picLocks noChangeAspect="1"/>
          </p:cNvPicPr>
          <p:nvPr/>
        </p:nvPicPr>
        <p:blipFill>
          <a:blip r:embed="rId3"/>
          <a:stretch>
            <a:fillRect/>
          </a:stretch>
        </p:blipFill>
        <p:spPr>
          <a:xfrm>
            <a:off x="-3506" y="675967"/>
            <a:ext cx="9144000" cy="4493366"/>
          </a:xfrm>
          <a:prstGeom prst="rect">
            <a:avLst/>
          </a:prstGeom>
        </p:spPr>
      </p:pic>
      <p:pic>
        <p:nvPicPr>
          <p:cNvPr id="14" name="Picture 2">
            <a:extLst>
              <a:ext uri="{FF2B5EF4-FFF2-40B4-BE49-F238E27FC236}">
                <a16:creationId xmlns:a16="http://schemas.microsoft.com/office/drawing/2014/main" id="{5713CB12-E0F7-E206-E4D7-13D2E7131D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60253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0FDCEBB5-1160-C124-70A8-D52FEE575B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94D681A-9BB8-66D2-5D97-6BAED7415E67}"/>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5637540C-FE1D-F3CB-BCAD-B3C9A6EC6328}"/>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514F77C7-1A1B-C0DA-BDF7-2D5467AE6DB3}"/>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114745A0-35B8-F210-D36C-01FE4A56E8AC}"/>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48C5B8A4-4A9B-111B-0EE3-9272E37E0A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31232D90-81B9-09BB-BE92-32641216538B}"/>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4" name="Google Shape;62;p13">
            <a:extLst>
              <a:ext uri="{FF2B5EF4-FFF2-40B4-BE49-F238E27FC236}">
                <a16:creationId xmlns:a16="http://schemas.microsoft.com/office/drawing/2014/main" id="{EE3F8B7A-3EA0-04B8-A110-309E8D21BB65}"/>
              </a:ext>
            </a:extLst>
          </p:cNvPr>
          <p:cNvSpPr txBox="1"/>
          <p:nvPr/>
        </p:nvSpPr>
        <p:spPr>
          <a:xfrm>
            <a:off x="300000" y="1300000"/>
            <a:ext cx="8500000" cy="42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dirty="0">
                <a:solidFill>
                  <a:srgbClr val="C00000"/>
                </a:solidFill>
                <a:latin typeface="Times New Roman"/>
                <a:ea typeface="Times New Roman"/>
                <a:cs typeface="Times New Roman"/>
                <a:sym typeface="Times New Roman"/>
              </a:rPr>
              <a:t>Technology Used</a:t>
            </a:r>
            <a:endParaRPr sz="1800" dirty="0">
              <a:solidFill>
                <a:srgbClr val="000000"/>
              </a:solidFill>
              <a:latin typeface="Times New Roman"/>
              <a:ea typeface="Times New Roman"/>
              <a:cs typeface="Times New Roman"/>
              <a:sym typeface="Times New Roman"/>
            </a:endParaRPr>
          </a:p>
        </p:txBody>
      </p:sp>
      <p:sp>
        <p:nvSpPr>
          <p:cNvPr id="10" name="TextBox 9">
            <a:extLst>
              <a:ext uri="{FF2B5EF4-FFF2-40B4-BE49-F238E27FC236}">
                <a16:creationId xmlns:a16="http://schemas.microsoft.com/office/drawing/2014/main" id="{01F5B8AB-3EEA-A744-5F3B-55A97D4A9000}"/>
              </a:ext>
            </a:extLst>
          </p:cNvPr>
          <p:cNvSpPr txBox="1"/>
          <p:nvPr/>
        </p:nvSpPr>
        <p:spPr>
          <a:xfrm>
            <a:off x="300000" y="1780000"/>
            <a:ext cx="2025000" cy="276999"/>
          </a:xfrm>
          <a:prstGeom prst="rect">
            <a:avLst/>
          </a:prstGeom>
          <a:noFill/>
        </p:spPr>
        <p:txBody>
          <a:bodyPr wrap="square" lIns="0" tIns="0" rIns="0" bIns="0">
            <a:spAutoFit/>
          </a:bodyPr>
          <a:lstStyle/>
          <a:p>
            <a:pPr algn="ctr"/>
            <a:r>
              <a:rPr sz="1800" b="1" i="0" dirty="0">
                <a:solidFill>
                  <a:srgbClr val="C00000"/>
                </a:solidFill>
                <a:latin typeface="Calibri"/>
              </a:rPr>
              <a:t>Data</a:t>
            </a:r>
          </a:p>
        </p:txBody>
      </p:sp>
      <p:sp>
        <p:nvSpPr>
          <p:cNvPr id="19" name="TextBox 18">
            <a:extLst>
              <a:ext uri="{FF2B5EF4-FFF2-40B4-BE49-F238E27FC236}">
                <a16:creationId xmlns:a16="http://schemas.microsoft.com/office/drawing/2014/main" id="{03EF5573-5F31-AEBE-00F8-2D5F33EFBFA0}"/>
              </a:ext>
            </a:extLst>
          </p:cNvPr>
          <p:cNvSpPr txBox="1"/>
          <p:nvPr/>
        </p:nvSpPr>
        <p:spPr>
          <a:xfrm>
            <a:off x="2475000" y="1780000"/>
            <a:ext cx="2025000" cy="276999"/>
          </a:xfrm>
          <a:prstGeom prst="rect">
            <a:avLst/>
          </a:prstGeom>
          <a:noFill/>
        </p:spPr>
        <p:txBody>
          <a:bodyPr wrap="square" lIns="0" tIns="0" rIns="0" bIns="0">
            <a:spAutoFit/>
          </a:bodyPr>
          <a:lstStyle/>
          <a:p>
            <a:pPr algn="ctr"/>
            <a:r>
              <a:rPr sz="1800" b="1" i="0">
                <a:solidFill>
                  <a:srgbClr val="C00000"/>
                </a:solidFill>
                <a:latin typeface="Calibri"/>
              </a:rPr>
              <a:t>Backend</a:t>
            </a:r>
          </a:p>
        </p:txBody>
      </p:sp>
      <p:sp>
        <p:nvSpPr>
          <p:cNvPr id="25" name="TextBox 24">
            <a:extLst>
              <a:ext uri="{FF2B5EF4-FFF2-40B4-BE49-F238E27FC236}">
                <a16:creationId xmlns:a16="http://schemas.microsoft.com/office/drawing/2014/main" id="{0BF7726B-596B-FFE9-2390-E441C1010203}"/>
              </a:ext>
            </a:extLst>
          </p:cNvPr>
          <p:cNvSpPr txBox="1"/>
          <p:nvPr/>
        </p:nvSpPr>
        <p:spPr>
          <a:xfrm>
            <a:off x="4650000" y="1780000"/>
            <a:ext cx="2025000" cy="276999"/>
          </a:xfrm>
          <a:prstGeom prst="rect">
            <a:avLst/>
          </a:prstGeom>
          <a:noFill/>
        </p:spPr>
        <p:txBody>
          <a:bodyPr wrap="square" lIns="0" tIns="0" rIns="0" bIns="0">
            <a:spAutoFit/>
          </a:bodyPr>
          <a:lstStyle/>
          <a:p>
            <a:pPr algn="ctr"/>
            <a:r>
              <a:rPr sz="1800" b="1" i="0">
                <a:solidFill>
                  <a:srgbClr val="C00000"/>
                </a:solidFill>
                <a:latin typeface="Calibri"/>
              </a:rPr>
              <a:t>AI</a:t>
            </a:r>
          </a:p>
        </p:txBody>
      </p:sp>
      <p:sp>
        <p:nvSpPr>
          <p:cNvPr id="29" name="TextBox 28">
            <a:extLst>
              <a:ext uri="{FF2B5EF4-FFF2-40B4-BE49-F238E27FC236}">
                <a16:creationId xmlns:a16="http://schemas.microsoft.com/office/drawing/2014/main" id="{4B1FDD1F-C857-621E-5B05-E2C6141ED9F4}"/>
              </a:ext>
            </a:extLst>
          </p:cNvPr>
          <p:cNvSpPr txBox="1"/>
          <p:nvPr/>
        </p:nvSpPr>
        <p:spPr>
          <a:xfrm>
            <a:off x="6825000" y="1780000"/>
            <a:ext cx="2025000" cy="276999"/>
          </a:xfrm>
          <a:prstGeom prst="rect">
            <a:avLst/>
          </a:prstGeom>
          <a:noFill/>
        </p:spPr>
        <p:txBody>
          <a:bodyPr wrap="square" lIns="0" tIns="0" rIns="0" bIns="0">
            <a:spAutoFit/>
          </a:bodyPr>
          <a:lstStyle/>
          <a:p>
            <a:pPr algn="ctr"/>
            <a:r>
              <a:rPr sz="1800" b="1" i="0">
                <a:solidFill>
                  <a:srgbClr val="C00000"/>
                </a:solidFill>
                <a:latin typeface="Calibri"/>
              </a:rPr>
              <a:t>Frontend</a:t>
            </a:r>
          </a:p>
        </p:txBody>
      </p:sp>
      <p:pic>
        <p:nvPicPr>
          <p:cNvPr id="32" name="Picture 31" descr="Postgresql plain wordmark logo - free Icon PNG, SVG">
            <a:extLst>
              <a:ext uri="{FF2B5EF4-FFF2-40B4-BE49-F238E27FC236}">
                <a16:creationId xmlns:a16="http://schemas.microsoft.com/office/drawing/2014/main" id="{41A02A3A-4053-8731-477C-28570D969B2B}"/>
              </a:ext>
            </a:extLst>
          </p:cNvPr>
          <p:cNvPicPr>
            <a:picLocks noChangeAspect="1"/>
          </p:cNvPicPr>
          <p:nvPr/>
        </p:nvPicPr>
        <p:blipFill>
          <a:blip r:embed="rId4"/>
          <a:stretch>
            <a:fillRect/>
          </a:stretch>
        </p:blipFill>
        <p:spPr>
          <a:xfrm>
            <a:off x="928687" y="2177154"/>
            <a:ext cx="720000" cy="720000"/>
          </a:xfrm>
          <a:prstGeom prst="rect">
            <a:avLst/>
          </a:prstGeom>
        </p:spPr>
      </p:pic>
      <p:pic>
        <p:nvPicPr>
          <p:cNvPr id="9" name="Picture 8">
            <a:extLst>
              <a:ext uri="{FF2B5EF4-FFF2-40B4-BE49-F238E27FC236}">
                <a16:creationId xmlns:a16="http://schemas.microsoft.com/office/drawing/2014/main" id="{0981FE65-2216-EF2F-9882-E59FAF3283E8}"/>
              </a:ext>
            </a:extLst>
          </p:cNvPr>
          <p:cNvPicPr>
            <a:picLocks noChangeAspect="1"/>
          </p:cNvPicPr>
          <p:nvPr/>
        </p:nvPicPr>
        <p:blipFill>
          <a:blip r:embed="rId5"/>
          <a:stretch>
            <a:fillRect/>
          </a:stretch>
        </p:blipFill>
        <p:spPr>
          <a:xfrm>
            <a:off x="2620430" y="2087722"/>
            <a:ext cx="1998049" cy="720000"/>
          </a:xfrm>
          <a:prstGeom prst="rect">
            <a:avLst/>
          </a:prstGeom>
        </p:spPr>
      </p:pic>
      <p:pic>
        <p:nvPicPr>
          <p:cNvPr id="12" name="Picture 11">
            <a:extLst>
              <a:ext uri="{FF2B5EF4-FFF2-40B4-BE49-F238E27FC236}">
                <a16:creationId xmlns:a16="http://schemas.microsoft.com/office/drawing/2014/main" id="{7EF36A2F-B661-1F80-AA07-8EFE2DFB68CF}"/>
              </a:ext>
            </a:extLst>
          </p:cNvPr>
          <p:cNvPicPr>
            <a:picLocks noChangeAspect="1"/>
          </p:cNvPicPr>
          <p:nvPr/>
        </p:nvPicPr>
        <p:blipFill>
          <a:blip r:embed="rId6"/>
          <a:stretch>
            <a:fillRect/>
          </a:stretch>
        </p:blipFill>
        <p:spPr>
          <a:xfrm>
            <a:off x="5092007" y="2219858"/>
            <a:ext cx="1224126" cy="460097"/>
          </a:xfrm>
          <a:prstGeom prst="rect">
            <a:avLst/>
          </a:prstGeom>
        </p:spPr>
      </p:pic>
      <p:pic>
        <p:nvPicPr>
          <p:cNvPr id="20" name="Graphic 19">
            <a:extLst>
              <a:ext uri="{FF2B5EF4-FFF2-40B4-BE49-F238E27FC236}">
                <a16:creationId xmlns:a16="http://schemas.microsoft.com/office/drawing/2014/main" id="{A86940C2-0592-A410-897F-3EB9B912AB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51950" y="2294236"/>
            <a:ext cx="1998000" cy="467774"/>
          </a:xfrm>
          <a:prstGeom prst="rect">
            <a:avLst/>
          </a:prstGeom>
        </p:spPr>
      </p:pic>
      <p:pic>
        <p:nvPicPr>
          <p:cNvPr id="24" name="Graphic 23">
            <a:extLst>
              <a:ext uri="{FF2B5EF4-FFF2-40B4-BE49-F238E27FC236}">
                <a16:creationId xmlns:a16="http://schemas.microsoft.com/office/drawing/2014/main" id="{D01F0062-269D-9F5F-D789-42AAEAC8004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10085" y="3025904"/>
            <a:ext cx="1980000" cy="617628"/>
          </a:xfrm>
          <a:prstGeom prst="rect">
            <a:avLst/>
          </a:prstGeom>
        </p:spPr>
      </p:pic>
      <p:pic>
        <p:nvPicPr>
          <p:cNvPr id="28" name="Graphic 27">
            <a:extLst>
              <a:ext uri="{FF2B5EF4-FFF2-40B4-BE49-F238E27FC236}">
                <a16:creationId xmlns:a16="http://schemas.microsoft.com/office/drawing/2014/main" id="{A839C617-84F8-7AFF-D1C7-D549C5C20DE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670000" y="2866670"/>
            <a:ext cx="1980000" cy="424512"/>
          </a:xfrm>
          <a:prstGeom prst="rect">
            <a:avLst/>
          </a:prstGeom>
        </p:spPr>
      </p:pic>
      <p:pic>
        <p:nvPicPr>
          <p:cNvPr id="3" name="Picture 2" descr="Nextjs icon - Free Download PNG &amp; SVG | Streamline">
            <a:extLst>
              <a:ext uri="{FF2B5EF4-FFF2-40B4-BE49-F238E27FC236}">
                <a16:creationId xmlns:a16="http://schemas.microsoft.com/office/drawing/2014/main" id="{F52FF355-8DE7-82F7-A28A-505EE71A3ACE}"/>
              </a:ext>
            </a:extLst>
          </p:cNvPr>
          <p:cNvPicPr>
            <a:picLocks noChangeAspect="1"/>
          </p:cNvPicPr>
          <p:nvPr/>
        </p:nvPicPr>
        <p:blipFill>
          <a:blip r:embed="rId10"/>
          <a:stretch>
            <a:fillRect/>
          </a:stretch>
        </p:blipFill>
        <p:spPr>
          <a:xfrm>
            <a:off x="7193269" y="2504813"/>
            <a:ext cx="1357870" cy="1357870"/>
          </a:xfrm>
          <a:prstGeom prst="rect">
            <a:avLst/>
          </a:prstGeom>
        </p:spPr>
      </p:pic>
      <p:pic>
        <p:nvPicPr>
          <p:cNvPr id="5" name="Picture 4" descr="Facebook LLaMA Logo image for Free Download">
            <a:extLst>
              <a:ext uri="{FF2B5EF4-FFF2-40B4-BE49-F238E27FC236}">
                <a16:creationId xmlns:a16="http://schemas.microsoft.com/office/drawing/2014/main" id="{74A72129-3776-5159-2795-E8295F3F3FC2}"/>
              </a:ext>
            </a:extLst>
          </p:cNvPr>
          <p:cNvPicPr>
            <a:picLocks noChangeAspect="1"/>
          </p:cNvPicPr>
          <p:nvPr/>
        </p:nvPicPr>
        <p:blipFill>
          <a:blip r:embed="rId11"/>
          <a:stretch>
            <a:fillRect/>
          </a:stretch>
        </p:blipFill>
        <p:spPr>
          <a:xfrm>
            <a:off x="5078689" y="2407178"/>
            <a:ext cx="1414394" cy="1414394"/>
          </a:xfrm>
          <a:prstGeom prst="rect">
            <a:avLst/>
          </a:prstGeom>
        </p:spPr>
      </p:pic>
    </p:spTree>
    <p:extLst>
      <p:ext uri="{BB962C8B-B14F-4D97-AF65-F5344CB8AC3E}">
        <p14:creationId xmlns:p14="http://schemas.microsoft.com/office/powerpoint/2010/main" val="3584301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8FA61218-1EE5-F701-6482-AE6106CFBE9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A5A9E2E-D0CC-235A-F901-CE8D71FF0313}"/>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69A5883C-76B4-B217-1EB3-386E46E1CEC4}"/>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5005EBF3-867D-3065-A96C-87BAC4F986FD}"/>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39E7F639-D90E-4B44-25ED-6E024E647A54}"/>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9572B975-4CC9-B0E0-6EA2-5CAD8C6BD3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770F32C5-DB61-85A2-77BC-D7725EA866D8}"/>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68104EFB-AE28-DF41-32BC-7E30807EB7EA}"/>
              </a:ext>
            </a:extLst>
          </p:cNvPr>
          <p:cNvSpPr txBox="1"/>
          <p:nvPr/>
        </p:nvSpPr>
        <p:spPr>
          <a:xfrm>
            <a:off x="300000" y="1681144"/>
            <a:ext cx="8550000" cy="261610"/>
          </a:xfrm>
          <a:prstGeom prst="rect">
            <a:avLst/>
          </a:prstGeom>
          <a:noFill/>
        </p:spPr>
        <p:txBody>
          <a:bodyPr wrap="square" lIns="0" tIns="0" rIns="0" bIns="0">
            <a:spAutoFit/>
          </a:bodyPr>
          <a:lstStyle/>
          <a:p>
            <a:pPr algn="ctr"/>
            <a:r>
              <a:rPr sz="1700" b="1" dirty="0">
                <a:solidFill>
                  <a:schemeClr val="tx1"/>
                </a:solidFill>
                <a:latin typeface="Times New Roman" panose="02020603050405020304" pitchFamily="18" charset="0"/>
                <a:cs typeface="Times New Roman" panose="02020603050405020304" pitchFamily="18" charset="0"/>
              </a:rPr>
              <a:t>Ask </a:t>
            </a:r>
            <a:r>
              <a:rPr lang="en-US" sz="1700" b="1" dirty="0">
                <a:solidFill>
                  <a:schemeClr val="tx1"/>
                </a:solidFill>
                <a:latin typeface="Times New Roman" panose="02020603050405020304" pitchFamily="18" charset="0"/>
                <a:cs typeface="Times New Roman" panose="02020603050405020304" pitchFamily="18" charset="0"/>
              </a:rPr>
              <a:t>Mumbai</a:t>
            </a:r>
            <a:r>
              <a:rPr sz="1700" b="1" dirty="0">
                <a:solidFill>
                  <a:schemeClr val="tx1"/>
                </a:solidFill>
                <a:latin typeface="Times New Roman" panose="02020603050405020304" pitchFamily="18" charset="0"/>
                <a:cs typeface="Times New Roman" panose="02020603050405020304" pitchFamily="18" charset="0"/>
              </a:rPr>
              <a:t> city </a:t>
            </a:r>
            <a:r>
              <a:rPr lang="en-US" sz="1700" b="1" dirty="0">
                <a:solidFill>
                  <a:schemeClr val="tx1"/>
                </a:solidFill>
                <a:latin typeface="Times New Roman" panose="02020603050405020304" pitchFamily="18" charset="0"/>
                <a:cs typeface="Times New Roman" panose="02020603050405020304" pitchFamily="18" charset="0"/>
              </a:rPr>
              <a:t>your</a:t>
            </a:r>
            <a:r>
              <a:rPr sz="1700" b="1" dirty="0">
                <a:solidFill>
                  <a:schemeClr val="tx1"/>
                </a:solidFill>
                <a:latin typeface="Times New Roman" panose="02020603050405020304" pitchFamily="18" charset="0"/>
                <a:cs typeface="Times New Roman" panose="02020603050405020304" pitchFamily="18" charset="0"/>
              </a:rPr>
              <a:t> question in plain English </a:t>
            </a:r>
            <a:r>
              <a:rPr lang="en-IN" sz="1700" b="1" dirty="0">
                <a:solidFill>
                  <a:schemeClr val="tx1"/>
                </a:solidFill>
                <a:latin typeface="Times New Roman" panose="02020603050405020304" pitchFamily="18" charset="0"/>
                <a:cs typeface="Times New Roman" panose="02020603050405020304" pitchFamily="18" charset="0"/>
              </a:rPr>
              <a:t>-&gt; </a:t>
            </a:r>
            <a:r>
              <a:rPr sz="1700" b="1" dirty="0">
                <a:solidFill>
                  <a:schemeClr val="tx1"/>
                </a:solidFill>
                <a:latin typeface="Times New Roman" panose="02020603050405020304" pitchFamily="18" charset="0"/>
                <a:cs typeface="Times New Roman" panose="02020603050405020304" pitchFamily="18" charset="0"/>
              </a:rPr>
              <a:t>get back a map.</a:t>
            </a:r>
          </a:p>
        </p:txBody>
      </p:sp>
      <p:sp>
        <p:nvSpPr>
          <p:cNvPr id="10" name="Rounded Rectangle 18">
            <a:extLst>
              <a:ext uri="{FF2B5EF4-FFF2-40B4-BE49-F238E27FC236}">
                <a16:creationId xmlns:a16="http://schemas.microsoft.com/office/drawing/2014/main" id="{DC1241CF-B7FE-477E-6846-B3B122DE6E3B}"/>
              </a:ext>
            </a:extLst>
          </p:cNvPr>
          <p:cNvSpPr/>
          <p:nvPr/>
        </p:nvSpPr>
        <p:spPr>
          <a:xfrm>
            <a:off x="300000" y="2340000"/>
            <a:ext cx="2716666" cy="1300000"/>
          </a:xfrm>
          <a:prstGeom prst="roundRect">
            <a:avLst/>
          </a:prstGeom>
          <a:solidFill>
            <a:srgbClr val="F2F4F6"/>
          </a:solidFill>
          <a:ln w="15875">
            <a:solidFill>
              <a:srgbClr val="B8C2CC"/>
            </a:solidFill>
            <a:prstDash val="dash"/>
          </a:ln>
          <a:effectLst/>
        </p:spPr>
        <p:style>
          <a:lnRef idx="1">
            <a:schemeClr val="accent1"/>
          </a:lnRef>
          <a:fillRef idx="3">
            <a:schemeClr val="accent1"/>
          </a:fillRef>
          <a:effectRef idx="2">
            <a:schemeClr val="accent1"/>
          </a:effectRef>
          <a:fontRef idx="minor">
            <a:schemeClr val="lt1"/>
          </a:fontRef>
        </p:style>
        <p:txBody>
          <a:bodyPr wrap="square" lIns="80000" rIns="80000" rtlCol="0" anchor="ctr"/>
          <a:lstStyle/>
          <a:p>
            <a:pPr algn="ctr"/>
            <a:r>
              <a:rPr sz="1050" b="1" i="0">
                <a:solidFill>
                  <a:srgbClr val="6E6E6E"/>
                </a:solidFill>
                <a:latin typeface="Calibri"/>
              </a:rPr>
              <a:t>IMAGE / VISUAL PLACEHOLDER</a:t>
            </a:r>
          </a:p>
          <a:p>
            <a:pPr algn="ctr"/>
            <a:r>
              <a:rPr sz="950" i="1">
                <a:solidFill>
                  <a:srgbClr val="6E6E6E"/>
                </a:solidFill>
                <a:latin typeface="Calibri"/>
              </a:rPr>
              <a:t>Icon: NL Query</a:t>
            </a:r>
          </a:p>
        </p:txBody>
      </p:sp>
      <p:sp>
        <p:nvSpPr>
          <p:cNvPr id="14" name="TextBox 13">
            <a:extLst>
              <a:ext uri="{FF2B5EF4-FFF2-40B4-BE49-F238E27FC236}">
                <a16:creationId xmlns:a16="http://schemas.microsoft.com/office/drawing/2014/main" id="{9A774FEE-2272-004B-B01C-674C81234BBC}"/>
              </a:ext>
            </a:extLst>
          </p:cNvPr>
          <p:cNvSpPr txBox="1"/>
          <p:nvPr/>
        </p:nvSpPr>
        <p:spPr>
          <a:xfrm>
            <a:off x="291762" y="4215461"/>
            <a:ext cx="2716666" cy="184666"/>
          </a:xfrm>
          <a:prstGeom prst="rect">
            <a:avLst/>
          </a:prstGeom>
          <a:noFill/>
        </p:spPr>
        <p:txBody>
          <a:bodyPr wrap="square" lIns="0" tIns="0" rIns="0" bIns="0">
            <a:spAutoFit/>
          </a:bodyPr>
          <a:lstStyle/>
          <a:p>
            <a:pPr algn="ctr"/>
            <a:r>
              <a:rPr sz="1200" b="0" i="0" dirty="0">
                <a:solidFill>
                  <a:srgbClr val="262626"/>
                </a:solidFill>
                <a:latin typeface="Times New Roman" panose="02020603050405020304" pitchFamily="18" charset="0"/>
                <a:cs typeface="Times New Roman" panose="02020603050405020304" pitchFamily="18" charset="0"/>
              </a:rPr>
              <a:t>“</a:t>
            </a:r>
            <a:r>
              <a:rPr lang="en-US" sz="1200" b="0" i="0" dirty="0" err="1">
                <a:solidFill>
                  <a:srgbClr val="262626"/>
                </a:solidFill>
                <a:latin typeface="Times New Roman" panose="02020603050405020304" pitchFamily="18" charset="0"/>
                <a:cs typeface="Times New Roman" panose="02020603050405020304" pitchFamily="18" charset="0"/>
              </a:rPr>
              <a:t>i</a:t>
            </a:r>
            <a:r>
              <a:rPr lang="en-US" sz="1200" b="0" i="0" dirty="0">
                <a:solidFill>
                  <a:srgbClr val="262626"/>
                </a:solidFill>
                <a:latin typeface="Times New Roman" panose="02020603050405020304" pitchFamily="18" charset="0"/>
                <a:cs typeface="Times New Roman" panose="02020603050405020304" pitchFamily="18" charset="0"/>
              </a:rPr>
              <a:t> </a:t>
            </a:r>
            <a:r>
              <a:rPr lang="en-US" sz="1200" b="0" i="0" dirty="0" err="1">
                <a:solidFill>
                  <a:srgbClr val="262626"/>
                </a:solidFill>
                <a:latin typeface="Times New Roman" panose="02020603050405020304" pitchFamily="18" charset="0"/>
                <a:cs typeface="Times New Roman" panose="02020603050405020304" pitchFamily="18" charset="0"/>
              </a:rPr>
              <a:t>wanna</a:t>
            </a:r>
            <a:r>
              <a:rPr lang="en-US" sz="1200" b="0" i="0" dirty="0">
                <a:solidFill>
                  <a:srgbClr val="262626"/>
                </a:solidFill>
                <a:latin typeface="Times New Roman" panose="02020603050405020304" pitchFamily="18" charset="0"/>
                <a:cs typeface="Times New Roman" panose="02020603050405020304" pitchFamily="18" charset="0"/>
              </a:rPr>
              <a:t> open pizzeria with 2cr budget</a:t>
            </a:r>
            <a:r>
              <a:rPr sz="1200" b="0" i="0" dirty="0">
                <a:solidFill>
                  <a:srgbClr val="262626"/>
                </a:solidFill>
                <a:latin typeface="Times New Roman" panose="02020603050405020304" pitchFamily="18" charset="0"/>
                <a:cs typeface="Times New Roman" panose="02020603050405020304" pitchFamily="18" charset="0"/>
              </a:rPr>
              <a:t>”</a:t>
            </a:r>
          </a:p>
        </p:txBody>
      </p:sp>
      <p:sp>
        <p:nvSpPr>
          <p:cNvPr id="21" name="Rounded Rectangle 20">
            <a:extLst>
              <a:ext uri="{FF2B5EF4-FFF2-40B4-BE49-F238E27FC236}">
                <a16:creationId xmlns:a16="http://schemas.microsoft.com/office/drawing/2014/main" id="{14577EE9-7AB0-55BD-02CA-7E6EC4F6D047}"/>
              </a:ext>
            </a:extLst>
          </p:cNvPr>
          <p:cNvSpPr/>
          <p:nvPr/>
        </p:nvSpPr>
        <p:spPr>
          <a:xfrm>
            <a:off x="3216666" y="2340000"/>
            <a:ext cx="2716666" cy="1300000"/>
          </a:xfrm>
          <a:prstGeom prst="roundRect">
            <a:avLst/>
          </a:prstGeom>
          <a:solidFill>
            <a:srgbClr val="F2F4F6"/>
          </a:solidFill>
          <a:ln w="15875">
            <a:solidFill>
              <a:srgbClr val="B8C2CC"/>
            </a:solidFill>
            <a:prstDash val="dash"/>
          </a:ln>
          <a:effectLst/>
        </p:spPr>
        <p:style>
          <a:lnRef idx="1">
            <a:schemeClr val="accent1"/>
          </a:lnRef>
          <a:fillRef idx="3">
            <a:schemeClr val="accent1"/>
          </a:fillRef>
          <a:effectRef idx="2">
            <a:schemeClr val="accent1"/>
          </a:effectRef>
          <a:fontRef idx="minor">
            <a:schemeClr val="lt1"/>
          </a:fontRef>
        </p:style>
        <p:txBody>
          <a:bodyPr wrap="square" lIns="80000" rIns="80000" rtlCol="0" anchor="ctr"/>
          <a:lstStyle/>
          <a:p>
            <a:pPr algn="ctr"/>
            <a:r>
              <a:rPr sz="1050" b="1" i="0">
                <a:solidFill>
                  <a:srgbClr val="6E6E6E"/>
                </a:solidFill>
                <a:latin typeface="Calibri"/>
              </a:rPr>
              <a:t>IMAGE / VISUAL PLACEHOLDER</a:t>
            </a:r>
          </a:p>
          <a:p>
            <a:pPr algn="ctr"/>
            <a:r>
              <a:rPr sz="950" i="1">
                <a:solidFill>
                  <a:srgbClr val="6E6E6E"/>
                </a:solidFill>
                <a:latin typeface="Calibri"/>
              </a:rPr>
              <a:t>Icon: Live Map</a:t>
            </a:r>
          </a:p>
        </p:txBody>
      </p:sp>
      <p:sp>
        <p:nvSpPr>
          <p:cNvPr id="25" name="TextBox 24">
            <a:extLst>
              <a:ext uri="{FF2B5EF4-FFF2-40B4-BE49-F238E27FC236}">
                <a16:creationId xmlns:a16="http://schemas.microsoft.com/office/drawing/2014/main" id="{DAB125FC-E72B-0696-BA44-D00B343DB11A}"/>
              </a:ext>
            </a:extLst>
          </p:cNvPr>
          <p:cNvSpPr txBox="1"/>
          <p:nvPr/>
        </p:nvSpPr>
        <p:spPr>
          <a:xfrm>
            <a:off x="3216666" y="4248410"/>
            <a:ext cx="2716666" cy="184666"/>
          </a:xfrm>
          <a:prstGeom prst="rect">
            <a:avLst/>
          </a:prstGeom>
          <a:noFill/>
        </p:spPr>
        <p:txBody>
          <a:bodyPr wrap="square" lIns="0" tIns="0" rIns="0" bIns="0">
            <a:spAutoFit/>
          </a:bodyPr>
          <a:lstStyle/>
          <a:p>
            <a:pPr algn="ctr"/>
            <a:r>
              <a:rPr lang="en-IN" sz="1200" b="0" i="0" dirty="0">
                <a:solidFill>
                  <a:srgbClr val="262626"/>
                </a:solidFill>
                <a:latin typeface="Times New Roman" panose="02020603050405020304" pitchFamily="18" charset="0"/>
                <a:cs typeface="Times New Roman" panose="02020603050405020304" pitchFamily="18" charset="0"/>
              </a:rPr>
              <a:t>Price and Area amenities information</a:t>
            </a:r>
            <a:endParaRPr sz="1200" b="0" i="0" dirty="0">
              <a:solidFill>
                <a:srgbClr val="262626"/>
              </a:solidFill>
              <a:latin typeface="Times New Roman" panose="02020603050405020304" pitchFamily="18" charset="0"/>
              <a:cs typeface="Times New Roman" panose="02020603050405020304" pitchFamily="18" charset="0"/>
            </a:endParaRPr>
          </a:p>
        </p:txBody>
      </p:sp>
      <p:sp>
        <p:nvSpPr>
          <p:cNvPr id="27" name="Rounded Rectangle 22">
            <a:extLst>
              <a:ext uri="{FF2B5EF4-FFF2-40B4-BE49-F238E27FC236}">
                <a16:creationId xmlns:a16="http://schemas.microsoft.com/office/drawing/2014/main" id="{574D52E0-11FC-76E8-6FC2-D40B442CC785}"/>
              </a:ext>
            </a:extLst>
          </p:cNvPr>
          <p:cNvSpPr/>
          <p:nvPr/>
        </p:nvSpPr>
        <p:spPr>
          <a:xfrm>
            <a:off x="6133332" y="2340000"/>
            <a:ext cx="2716666" cy="1300000"/>
          </a:xfrm>
          <a:prstGeom prst="roundRect">
            <a:avLst/>
          </a:prstGeom>
          <a:solidFill>
            <a:srgbClr val="F2F4F6"/>
          </a:solidFill>
          <a:ln w="15875">
            <a:solidFill>
              <a:srgbClr val="B8C2CC"/>
            </a:solidFill>
            <a:prstDash val="dash"/>
          </a:ln>
          <a:effectLst/>
        </p:spPr>
        <p:style>
          <a:lnRef idx="1">
            <a:schemeClr val="accent1"/>
          </a:lnRef>
          <a:fillRef idx="3">
            <a:schemeClr val="accent1"/>
          </a:fillRef>
          <a:effectRef idx="2">
            <a:schemeClr val="accent1"/>
          </a:effectRef>
          <a:fontRef idx="minor">
            <a:schemeClr val="lt1"/>
          </a:fontRef>
        </p:style>
        <p:txBody>
          <a:bodyPr wrap="square" lIns="80000" rIns="80000" rtlCol="0" anchor="ctr"/>
          <a:lstStyle/>
          <a:p>
            <a:pPr algn="ctr"/>
            <a:r>
              <a:rPr sz="1050" b="1" i="0">
                <a:solidFill>
                  <a:srgbClr val="6E6E6E"/>
                </a:solidFill>
                <a:latin typeface="Calibri"/>
              </a:rPr>
              <a:t>IMAGE / VISUAL PLACEHOLDER</a:t>
            </a:r>
          </a:p>
          <a:p>
            <a:pPr algn="ctr"/>
            <a:r>
              <a:rPr sz="950" i="1">
                <a:solidFill>
                  <a:srgbClr val="6E6E6E"/>
                </a:solidFill>
                <a:latin typeface="Calibri"/>
              </a:rPr>
              <a:t>Icon: Grounded Answer</a:t>
            </a:r>
          </a:p>
        </p:txBody>
      </p:sp>
      <p:pic>
        <p:nvPicPr>
          <p:cNvPr id="29" name="Picture 28">
            <a:extLst>
              <a:ext uri="{FF2B5EF4-FFF2-40B4-BE49-F238E27FC236}">
                <a16:creationId xmlns:a16="http://schemas.microsoft.com/office/drawing/2014/main" id="{EE5DC403-CD99-45B9-B802-F30BEE95A224}"/>
              </a:ext>
            </a:extLst>
          </p:cNvPr>
          <p:cNvPicPr>
            <a:picLocks noChangeAspect="1"/>
          </p:cNvPicPr>
          <p:nvPr/>
        </p:nvPicPr>
        <p:blipFill>
          <a:blip r:embed="rId4"/>
          <a:stretch>
            <a:fillRect/>
          </a:stretch>
        </p:blipFill>
        <p:spPr>
          <a:xfrm>
            <a:off x="239918" y="2041610"/>
            <a:ext cx="2810057" cy="2105833"/>
          </a:xfrm>
          <a:prstGeom prst="rect">
            <a:avLst/>
          </a:prstGeom>
        </p:spPr>
      </p:pic>
      <p:pic>
        <p:nvPicPr>
          <p:cNvPr id="31" name="Picture 30">
            <a:extLst>
              <a:ext uri="{FF2B5EF4-FFF2-40B4-BE49-F238E27FC236}">
                <a16:creationId xmlns:a16="http://schemas.microsoft.com/office/drawing/2014/main" id="{C870935C-7B4A-B4B5-B353-B835B6BF66BC}"/>
              </a:ext>
            </a:extLst>
          </p:cNvPr>
          <p:cNvPicPr>
            <a:picLocks noChangeAspect="1"/>
          </p:cNvPicPr>
          <p:nvPr/>
        </p:nvPicPr>
        <p:blipFill>
          <a:blip r:embed="rId5"/>
          <a:stretch>
            <a:fillRect/>
          </a:stretch>
        </p:blipFill>
        <p:spPr>
          <a:xfrm>
            <a:off x="3077596" y="2101610"/>
            <a:ext cx="3033660" cy="2045833"/>
          </a:xfrm>
          <a:prstGeom prst="rect">
            <a:avLst/>
          </a:prstGeom>
        </p:spPr>
      </p:pic>
      <p:pic>
        <p:nvPicPr>
          <p:cNvPr id="33" name="Picture 32">
            <a:extLst>
              <a:ext uri="{FF2B5EF4-FFF2-40B4-BE49-F238E27FC236}">
                <a16:creationId xmlns:a16="http://schemas.microsoft.com/office/drawing/2014/main" id="{4E1A2565-CF61-3000-7315-9DB1FA0ED287}"/>
              </a:ext>
            </a:extLst>
          </p:cNvPr>
          <p:cNvPicPr>
            <a:picLocks noChangeAspect="1"/>
          </p:cNvPicPr>
          <p:nvPr/>
        </p:nvPicPr>
        <p:blipFill>
          <a:blip r:embed="rId6"/>
          <a:srcRect b="29387"/>
          <a:stretch>
            <a:fillRect/>
          </a:stretch>
        </p:blipFill>
        <p:spPr>
          <a:xfrm>
            <a:off x="6134824" y="2101610"/>
            <a:ext cx="2703354" cy="2025066"/>
          </a:xfrm>
          <a:prstGeom prst="rect">
            <a:avLst/>
          </a:prstGeom>
        </p:spPr>
      </p:pic>
      <p:sp>
        <p:nvSpPr>
          <p:cNvPr id="67" name="TextBox 66">
            <a:extLst>
              <a:ext uri="{FF2B5EF4-FFF2-40B4-BE49-F238E27FC236}">
                <a16:creationId xmlns:a16="http://schemas.microsoft.com/office/drawing/2014/main" id="{9619020A-D094-CCE5-CA87-0CFBB4915770}"/>
              </a:ext>
            </a:extLst>
          </p:cNvPr>
          <p:cNvSpPr txBox="1"/>
          <p:nvPr/>
        </p:nvSpPr>
        <p:spPr>
          <a:xfrm>
            <a:off x="6133332" y="4157798"/>
            <a:ext cx="2716666" cy="369332"/>
          </a:xfrm>
          <a:prstGeom prst="rect">
            <a:avLst/>
          </a:prstGeom>
          <a:noFill/>
        </p:spPr>
        <p:txBody>
          <a:bodyPr wrap="square" lIns="0" tIns="0" rIns="0" bIns="0">
            <a:spAutoFit/>
          </a:bodyPr>
          <a:lstStyle/>
          <a:p>
            <a:pPr algn="ctr"/>
            <a:r>
              <a:rPr sz="1200" b="0" i="0" dirty="0">
                <a:solidFill>
                  <a:srgbClr val="262626"/>
                </a:solidFill>
                <a:latin typeface="Times New Roman" panose="02020603050405020304" pitchFamily="18" charset="0"/>
                <a:cs typeface="Times New Roman" panose="02020603050405020304" pitchFamily="18" charset="0"/>
              </a:rPr>
              <a:t>Answer + short</a:t>
            </a:r>
          </a:p>
          <a:p>
            <a:pPr algn="ctr"/>
            <a:r>
              <a:rPr sz="1200" b="0" i="0" dirty="0">
                <a:solidFill>
                  <a:srgbClr val="262626"/>
                </a:solidFill>
                <a:latin typeface="Times New Roman" panose="02020603050405020304" pitchFamily="18" charset="0"/>
                <a:cs typeface="Times New Roman" panose="02020603050405020304" pitchFamily="18" charset="0"/>
              </a:rPr>
              <a:t>explanation, from real data</a:t>
            </a:r>
          </a:p>
        </p:txBody>
      </p:sp>
      <p:sp>
        <p:nvSpPr>
          <p:cNvPr id="9" name="Google Shape;62;p13">
            <a:extLst>
              <a:ext uri="{FF2B5EF4-FFF2-40B4-BE49-F238E27FC236}">
                <a16:creationId xmlns:a16="http://schemas.microsoft.com/office/drawing/2014/main" id="{329CF0B8-8390-FC9B-4E21-B2E3E045E50C}"/>
              </a:ext>
            </a:extLst>
          </p:cNvPr>
          <p:cNvSpPr txBox="1"/>
          <p:nvPr/>
        </p:nvSpPr>
        <p:spPr>
          <a:xfrm>
            <a:off x="300000" y="1300000"/>
            <a:ext cx="8500000" cy="400069"/>
          </a:xfrm>
          <a:prstGeom prst="rect">
            <a:avLst/>
          </a:prstGeom>
          <a:noFill/>
          <a:ln>
            <a:noFill/>
          </a:ln>
        </p:spPr>
        <p:txBody>
          <a:bodyPr spcFirstLastPara="1" wrap="square" lIns="91425" tIns="45700" rIns="91425" bIns="45700" anchor="t" anchorCtr="0">
            <a:spAutoFit/>
          </a:bodyPr>
          <a:lstStyle/>
          <a:p>
            <a:pPr lvl="0"/>
            <a:r>
              <a:rPr lang="en-IN" sz="2000" b="1" dirty="0">
                <a:solidFill>
                  <a:srgbClr val="C00000"/>
                </a:solidFill>
                <a:latin typeface="Times New Roman"/>
                <a:ea typeface="Times New Roman"/>
                <a:cs typeface="Times New Roman"/>
                <a:sym typeface="Times New Roman"/>
              </a:rPr>
              <a:t>Results</a:t>
            </a:r>
            <a:endParaRPr lang="en-IN" sz="18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3608895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1033A80E-BA87-0ECC-47D2-27A5470917C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8B1FB29-6AA2-63D6-B845-42192E969ABB}"/>
              </a:ext>
            </a:extLst>
          </p:cNvPr>
          <p:cNvPicPr>
            <a:picLocks noChangeAspect="1"/>
          </p:cNvPicPr>
          <p:nvPr/>
        </p:nvPicPr>
        <p:blipFill>
          <a:blip r:embed="rId3"/>
          <a:stretch>
            <a:fillRect/>
          </a:stretch>
        </p:blipFill>
        <p:spPr>
          <a:xfrm>
            <a:off x="465918" y="0"/>
            <a:ext cx="8212164" cy="5143500"/>
          </a:xfrm>
          <a:prstGeom prst="rect">
            <a:avLst/>
          </a:prstGeom>
        </p:spPr>
      </p:pic>
      <p:sp>
        <p:nvSpPr>
          <p:cNvPr id="3" name="Rectangle 2">
            <a:extLst>
              <a:ext uri="{FF2B5EF4-FFF2-40B4-BE49-F238E27FC236}">
                <a16:creationId xmlns:a16="http://schemas.microsoft.com/office/drawing/2014/main" id="{BE0AB9E3-4A3F-2E9D-6CC1-5E8950F03175}"/>
              </a:ext>
            </a:extLst>
          </p:cNvPr>
          <p:cNvSpPr/>
          <p:nvPr/>
        </p:nvSpPr>
        <p:spPr>
          <a:xfrm>
            <a:off x="0" y="1"/>
            <a:ext cx="465918" cy="5143500"/>
          </a:xfrm>
          <a:prstGeom prst="rect">
            <a:avLst/>
          </a:prstGeom>
          <a:solidFill>
            <a:srgbClr val="FAF5EE"/>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F1F67413-01BA-E92E-401C-CF4BBD502B4B}"/>
              </a:ext>
            </a:extLst>
          </p:cNvPr>
          <p:cNvSpPr/>
          <p:nvPr/>
        </p:nvSpPr>
        <p:spPr>
          <a:xfrm>
            <a:off x="8678082" y="0"/>
            <a:ext cx="465918" cy="5143500"/>
          </a:xfrm>
          <a:prstGeom prst="rect">
            <a:avLst/>
          </a:prstGeom>
          <a:solidFill>
            <a:srgbClr val="FAF5EE"/>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45407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265C0-1AFC-C39B-A127-03D1703A583C}"/>
              </a:ext>
            </a:extLst>
          </p:cNvPr>
          <p:cNvSpPr>
            <a:spLocks noGrp="1"/>
          </p:cNvSpPr>
          <p:nvPr>
            <p:ph type="title"/>
          </p:nvPr>
        </p:nvSpPr>
        <p:spPr/>
        <p:txBody>
          <a:bodyPr>
            <a:normAutofit fontScale="90000"/>
          </a:bodyPr>
          <a:lstStyle/>
          <a:p>
            <a:endParaRPr lang="en-IN"/>
          </a:p>
        </p:txBody>
      </p:sp>
      <p:sp>
        <p:nvSpPr>
          <p:cNvPr id="3" name="Text Placeholder 2">
            <a:extLst>
              <a:ext uri="{FF2B5EF4-FFF2-40B4-BE49-F238E27FC236}">
                <a16:creationId xmlns:a16="http://schemas.microsoft.com/office/drawing/2014/main" id="{7EBD544D-5C98-DBB2-D058-05556E656542}"/>
              </a:ext>
            </a:extLst>
          </p:cNvPr>
          <p:cNvSpPr>
            <a:spLocks noGrp="1"/>
          </p:cNvSpPr>
          <p:nvPr>
            <p:ph type="body" idx="1"/>
          </p:nvPr>
        </p:nvSpPr>
        <p:spPr/>
        <p:txBody>
          <a:bodyPr/>
          <a:lstStyle/>
          <a:p>
            <a:endParaRPr lang="en-IN"/>
          </a:p>
        </p:txBody>
      </p:sp>
      <p:sp>
        <p:nvSpPr>
          <p:cNvPr id="4" name="Text Placeholder 3">
            <a:extLst>
              <a:ext uri="{FF2B5EF4-FFF2-40B4-BE49-F238E27FC236}">
                <a16:creationId xmlns:a16="http://schemas.microsoft.com/office/drawing/2014/main" id="{A936D6F0-FA61-930E-4D9A-0E212D734C71}"/>
              </a:ext>
            </a:extLst>
          </p:cNvPr>
          <p:cNvSpPr>
            <a:spLocks noGrp="1"/>
          </p:cNvSpPr>
          <p:nvPr>
            <p:ph type="body" idx="2"/>
          </p:nvPr>
        </p:nvSpPr>
        <p:spPr/>
        <p:txBody>
          <a:bodyPr/>
          <a:lstStyle/>
          <a:p>
            <a:endParaRPr lang="en-IN"/>
          </a:p>
        </p:txBody>
      </p:sp>
      <p:pic>
        <p:nvPicPr>
          <p:cNvPr id="8" name="Picture 7">
            <a:extLst>
              <a:ext uri="{FF2B5EF4-FFF2-40B4-BE49-F238E27FC236}">
                <a16:creationId xmlns:a16="http://schemas.microsoft.com/office/drawing/2014/main" id="{0D5EEEA7-7D1C-7B97-DB2B-3DC4D5A02E5A}"/>
              </a:ext>
            </a:extLst>
          </p:cNvPr>
          <p:cNvPicPr>
            <a:picLocks noChangeAspect="1"/>
          </p:cNvPicPr>
          <p:nvPr/>
        </p:nvPicPr>
        <p:blipFill>
          <a:blip r:embed="rId2"/>
          <a:stretch>
            <a:fillRect/>
          </a:stretch>
        </p:blipFill>
        <p:spPr>
          <a:xfrm>
            <a:off x="0" y="-1"/>
            <a:ext cx="9144000" cy="5253815"/>
          </a:xfrm>
          <a:prstGeom prst="rect">
            <a:avLst/>
          </a:prstGeom>
        </p:spPr>
      </p:pic>
    </p:spTree>
    <p:extLst>
      <p:ext uri="{BB962C8B-B14F-4D97-AF65-F5344CB8AC3E}">
        <p14:creationId xmlns:p14="http://schemas.microsoft.com/office/powerpoint/2010/main" val="3221023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AD1D7-0DD7-0DF5-38B2-BCDFC58298BE}"/>
              </a:ext>
            </a:extLst>
          </p:cNvPr>
          <p:cNvSpPr>
            <a:spLocks noGrp="1"/>
          </p:cNvSpPr>
          <p:nvPr>
            <p:ph type="title"/>
          </p:nvPr>
        </p:nvSpPr>
        <p:spPr/>
        <p:txBody>
          <a:bodyPr>
            <a:normAutofit fontScale="90000"/>
          </a:bodyPr>
          <a:lstStyle/>
          <a:p>
            <a:endParaRPr lang="en-IN"/>
          </a:p>
        </p:txBody>
      </p:sp>
      <p:sp>
        <p:nvSpPr>
          <p:cNvPr id="3" name="Text Placeholder 2">
            <a:extLst>
              <a:ext uri="{FF2B5EF4-FFF2-40B4-BE49-F238E27FC236}">
                <a16:creationId xmlns:a16="http://schemas.microsoft.com/office/drawing/2014/main" id="{A11B1598-8908-EAE4-C1F1-7DBB7CC5D60F}"/>
              </a:ext>
            </a:extLst>
          </p:cNvPr>
          <p:cNvSpPr>
            <a:spLocks noGrp="1"/>
          </p:cNvSpPr>
          <p:nvPr>
            <p:ph type="body" idx="1"/>
          </p:nvPr>
        </p:nvSpPr>
        <p:spPr/>
        <p:txBody>
          <a:bodyPr/>
          <a:lstStyle/>
          <a:p>
            <a:endParaRPr lang="en-IN"/>
          </a:p>
        </p:txBody>
      </p:sp>
      <p:sp>
        <p:nvSpPr>
          <p:cNvPr id="4" name="Text Placeholder 3">
            <a:extLst>
              <a:ext uri="{FF2B5EF4-FFF2-40B4-BE49-F238E27FC236}">
                <a16:creationId xmlns:a16="http://schemas.microsoft.com/office/drawing/2014/main" id="{A2555286-0A0A-1A4F-EC92-C6152E9B7ACE}"/>
              </a:ext>
            </a:extLst>
          </p:cNvPr>
          <p:cNvSpPr>
            <a:spLocks noGrp="1"/>
          </p:cNvSpPr>
          <p:nvPr>
            <p:ph type="body" idx="2"/>
          </p:nvPr>
        </p:nvSpPr>
        <p:spPr/>
        <p:txBody>
          <a:bodyPr/>
          <a:lstStyle/>
          <a:p>
            <a:endParaRPr lang="en-IN"/>
          </a:p>
        </p:txBody>
      </p:sp>
      <p:pic>
        <p:nvPicPr>
          <p:cNvPr id="6" name="Picture 5">
            <a:extLst>
              <a:ext uri="{FF2B5EF4-FFF2-40B4-BE49-F238E27FC236}">
                <a16:creationId xmlns:a16="http://schemas.microsoft.com/office/drawing/2014/main" id="{06E7FA3B-9B07-360D-D572-C5FD41B4E35F}"/>
              </a:ext>
            </a:extLst>
          </p:cNvPr>
          <p:cNvPicPr>
            <a:picLocks noChangeAspect="1"/>
          </p:cNvPicPr>
          <p:nvPr/>
        </p:nvPicPr>
        <p:blipFill>
          <a:blip r:embed="rId2"/>
          <a:stretch>
            <a:fillRect/>
          </a:stretch>
        </p:blipFill>
        <p:spPr>
          <a:xfrm>
            <a:off x="0" y="0"/>
            <a:ext cx="9144000" cy="5247912"/>
          </a:xfrm>
          <a:prstGeom prst="rect">
            <a:avLst/>
          </a:prstGeom>
        </p:spPr>
      </p:pic>
    </p:spTree>
    <p:extLst>
      <p:ext uri="{BB962C8B-B14F-4D97-AF65-F5344CB8AC3E}">
        <p14:creationId xmlns:p14="http://schemas.microsoft.com/office/powerpoint/2010/main" val="3855052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98C79718-8747-2834-C2F0-9AC1555FDEB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98FD2D-E679-0228-3963-F8DAE71CFFBF}"/>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395D0FB6-7D89-C8A6-08C4-A1C170DACD89}"/>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A6A56609-D42C-E64A-19BE-16358D76933B}"/>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7EA307B7-A308-8697-8116-AFF9D43CC1B3}"/>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6BF736EF-BE83-B187-FA4E-01F7EDFECF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63BD0C80-E35F-3F4C-EA8A-69EC47C1EF7A}"/>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5" name="Google Shape;62;p13">
            <a:extLst>
              <a:ext uri="{FF2B5EF4-FFF2-40B4-BE49-F238E27FC236}">
                <a16:creationId xmlns:a16="http://schemas.microsoft.com/office/drawing/2014/main" id="{E0DC1F6D-EB91-0EA2-92EC-CD5FB9813AD3}"/>
              </a:ext>
            </a:extLst>
          </p:cNvPr>
          <p:cNvSpPr txBox="1"/>
          <p:nvPr/>
        </p:nvSpPr>
        <p:spPr>
          <a:xfrm>
            <a:off x="300000" y="1300000"/>
            <a:ext cx="8500000" cy="400069"/>
          </a:xfrm>
          <a:prstGeom prst="rect">
            <a:avLst/>
          </a:prstGeom>
          <a:noFill/>
          <a:ln>
            <a:noFill/>
          </a:ln>
        </p:spPr>
        <p:txBody>
          <a:bodyPr spcFirstLastPara="1" wrap="square" lIns="91425" tIns="45700" rIns="91425" bIns="45700" anchor="t" anchorCtr="0">
            <a:spAutoFit/>
          </a:bodyPr>
          <a:lstStyle/>
          <a:p>
            <a:pPr lvl="0"/>
            <a:r>
              <a:rPr lang="en-IN" sz="2000" b="1" dirty="0">
                <a:solidFill>
                  <a:srgbClr val="C00000"/>
                </a:solidFill>
                <a:latin typeface="Times New Roman"/>
                <a:ea typeface="Times New Roman"/>
                <a:cs typeface="Times New Roman"/>
                <a:sym typeface="Times New Roman"/>
              </a:rPr>
              <a:t>Applications</a:t>
            </a:r>
            <a:endParaRPr lang="en-IN" sz="1800" dirty="0">
              <a:latin typeface="Times New Roman"/>
              <a:ea typeface="Times New Roman"/>
              <a:cs typeface="Times New Roman"/>
              <a:sym typeface="Times New Roman"/>
            </a:endParaRPr>
          </a:p>
        </p:txBody>
      </p:sp>
      <p:sp>
        <p:nvSpPr>
          <p:cNvPr id="9" name="Rounded Rectangle 17">
            <a:extLst>
              <a:ext uri="{FF2B5EF4-FFF2-40B4-BE49-F238E27FC236}">
                <a16:creationId xmlns:a16="http://schemas.microsoft.com/office/drawing/2014/main" id="{689DDF63-1374-D980-97D1-C035631C91AB}"/>
              </a:ext>
            </a:extLst>
          </p:cNvPr>
          <p:cNvSpPr/>
          <p:nvPr/>
        </p:nvSpPr>
        <p:spPr>
          <a:xfrm>
            <a:off x="300000" y="1969474"/>
            <a:ext cx="2025000" cy="22000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r>
              <a:rPr lang="en-US" b="1" dirty="0">
                <a:latin typeface="Times New Roman" panose="02020603050405020304" pitchFamily="18" charset="0"/>
                <a:cs typeface="Times New Roman" panose="02020603050405020304" pitchFamily="18" charset="0"/>
              </a:rPr>
              <a:t>New outlet/store site selection :</a:t>
            </a:r>
            <a:r>
              <a:rPr lang="en-US" dirty="0">
                <a:latin typeface="Times New Roman" panose="02020603050405020304" pitchFamily="18" charset="0"/>
                <a:cs typeface="Times New Roman" panose="02020603050405020304" pitchFamily="18" charset="0"/>
              </a:rPr>
              <a:t> cafes, restaurants, retail choosing where to open next</a:t>
            </a:r>
          </a:p>
        </p:txBody>
      </p:sp>
      <p:sp>
        <p:nvSpPr>
          <p:cNvPr id="11" name="Oval 10">
            <a:extLst>
              <a:ext uri="{FF2B5EF4-FFF2-40B4-BE49-F238E27FC236}">
                <a16:creationId xmlns:a16="http://schemas.microsoft.com/office/drawing/2014/main" id="{8E43989E-868F-1874-2CD5-D41EA089C202}"/>
              </a:ext>
            </a:extLst>
          </p:cNvPr>
          <p:cNvSpPr/>
          <p:nvPr/>
        </p:nvSpPr>
        <p:spPr>
          <a:xfrm>
            <a:off x="1102500" y="1814474"/>
            <a:ext cx="420000" cy="4200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Calibri"/>
              </a:rPr>
              <a:t>1</a:t>
            </a:r>
          </a:p>
        </p:txBody>
      </p:sp>
      <p:sp>
        <p:nvSpPr>
          <p:cNvPr id="18" name="Rounded Rectangle 20">
            <a:extLst>
              <a:ext uri="{FF2B5EF4-FFF2-40B4-BE49-F238E27FC236}">
                <a16:creationId xmlns:a16="http://schemas.microsoft.com/office/drawing/2014/main" id="{98CF068E-57F3-A5DE-29C0-47A444962318}"/>
              </a:ext>
            </a:extLst>
          </p:cNvPr>
          <p:cNvSpPr/>
          <p:nvPr/>
        </p:nvSpPr>
        <p:spPr>
          <a:xfrm>
            <a:off x="2475000" y="1969474"/>
            <a:ext cx="2025000" cy="22000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r>
              <a:rPr lang="en-US" b="1" dirty="0">
                <a:latin typeface="Times New Roman" panose="02020603050405020304" pitchFamily="18" charset="0"/>
                <a:cs typeface="Times New Roman" panose="02020603050405020304" pitchFamily="18" charset="0"/>
              </a:rPr>
              <a:t>Franchise &amp; expansion planning </a:t>
            </a:r>
            <a:r>
              <a:rPr lang="en-US" dirty="0">
                <a:latin typeface="Times New Roman" panose="02020603050405020304" pitchFamily="18" charset="0"/>
                <a:cs typeface="Times New Roman" panose="02020603050405020304" pitchFamily="18" charset="0"/>
              </a:rPr>
              <a:t>: compare multiple candidate cities/neighborhoods at once</a:t>
            </a:r>
          </a:p>
        </p:txBody>
      </p:sp>
      <p:sp>
        <p:nvSpPr>
          <p:cNvPr id="20" name="Oval 19">
            <a:extLst>
              <a:ext uri="{FF2B5EF4-FFF2-40B4-BE49-F238E27FC236}">
                <a16:creationId xmlns:a16="http://schemas.microsoft.com/office/drawing/2014/main" id="{6B43EF90-4528-6202-A9A7-F6D0F45B9E21}"/>
              </a:ext>
            </a:extLst>
          </p:cNvPr>
          <p:cNvSpPr/>
          <p:nvPr/>
        </p:nvSpPr>
        <p:spPr>
          <a:xfrm>
            <a:off x="3277500" y="1814474"/>
            <a:ext cx="420000" cy="4200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2</a:t>
            </a:r>
          </a:p>
        </p:txBody>
      </p:sp>
      <p:sp>
        <p:nvSpPr>
          <p:cNvPr id="24" name="Rounded Rectangle 23">
            <a:extLst>
              <a:ext uri="{FF2B5EF4-FFF2-40B4-BE49-F238E27FC236}">
                <a16:creationId xmlns:a16="http://schemas.microsoft.com/office/drawing/2014/main" id="{8CFCF725-C1D5-F70E-4EBF-26FEE857FB07}"/>
              </a:ext>
            </a:extLst>
          </p:cNvPr>
          <p:cNvSpPr/>
          <p:nvPr/>
        </p:nvSpPr>
        <p:spPr>
          <a:xfrm>
            <a:off x="4650000" y="1969474"/>
            <a:ext cx="2025000" cy="22000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r>
              <a:rPr lang="en-US" b="1" dirty="0">
                <a:latin typeface="Times New Roman" panose="02020603050405020304" pitchFamily="18" charset="0"/>
                <a:cs typeface="Times New Roman" panose="02020603050405020304" pitchFamily="18" charset="0"/>
              </a:rPr>
              <a:t>Budget &amp; feasibility check :</a:t>
            </a:r>
            <a:r>
              <a:rPr lang="en-US" dirty="0">
                <a:latin typeface="Times New Roman" panose="02020603050405020304" pitchFamily="18" charset="0"/>
                <a:cs typeface="Times New Roman" panose="02020603050405020304" pitchFamily="18" charset="0"/>
              </a:rPr>
              <a:t> instant cost estimate before committing to a lease</a:t>
            </a:r>
          </a:p>
        </p:txBody>
      </p:sp>
      <p:sp>
        <p:nvSpPr>
          <p:cNvPr id="26" name="Oval 25">
            <a:extLst>
              <a:ext uri="{FF2B5EF4-FFF2-40B4-BE49-F238E27FC236}">
                <a16:creationId xmlns:a16="http://schemas.microsoft.com/office/drawing/2014/main" id="{A3FD3D1A-38D4-3AFF-64EE-6F845ED82D62}"/>
              </a:ext>
            </a:extLst>
          </p:cNvPr>
          <p:cNvSpPr/>
          <p:nvPr/>
        </p:nvSpPr>
        <p:spPr>
          <a:xfrm>
            <a:off x="5452500" y="1809735"/>
            <a:ext cx="420000" cy="4200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3</a:t>
            </a:r>
          </a:p>
        </p:txBody>
      </p:sp>
      <p:sp>
        <p:nvSpPr>
          <p:cNvPr id="30" name="Rounded Rectangle 26">
            <a:extLst>
              <a:ext uri="{FF2B5EF4-FFF2-40B4-BE49-F238E27FC236}">
                <a16:creationId xmlns:a16="http://schemas.microsoft.com/office/drawing/2014/main" id="{D2AF8281-64F3-4BC9-05D4-C72AF25A836E}"/>
              </a:ext>
            </a:extLst>
          </p:cNvPr>
          <p:cNvSpPr/>
          <p:nvPr/>
        </p:nvSpPr>
        <p:spPr>
          <a:xfrm>
            <a:off x="6825000" y="1969474"/>
            <a:ext cx="2025000" cy="22000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r>
              <a:rPr lang="en-US" b="1" dirty="0">
                <a:latin typeface="Times New Roman" panose="02020603050405020304" pitchFamily="18" charset="0"/>
                <a:cs typeface="Times New Roman" panose="02020603050405020304" pitchFamily="18" charset="0"/>
              </a:rPr>
              <a:t>Investor/pitch-ready reports :</a:t>
            </a:r>
            <a:r>
              <a:rPr lang="en-US" dirty="0">
                <a:latin typeface="Times New Roman" panose="02020603050405020304" pitchFamily="18" charset="0"/>
                <a:cs typeface="Times New Roman" panose="02020603050405020304" pitchFamily="18" charset="0"/>
              </a:rPr>
              <a:t> auto-generated site + cost comparison to back a business case</a:t>
            </a:r>
            <a:endParaRPr lang="en-IN" dirty="0">
              <a:latin typeface="Times New Roman" panose="02020603050405020304" pitchFamily="18" charset="0"/>
              <a:cs typeface="Times New Roman" panose="02020603050405020304" pitchFamily="18" charset="0"/>
            </a:endParaRPr>
          </a:p>
        </p:txBody>
      </p:sp>
      <p:sp>
        <p:nvSpPr>
          <p:cNvPr id="32" name="Oval 31">
            <a:extLst>
              <a:ext uri="{FF2B5EF4-FFF2-40B4-BE49-F238E27FC236}">
                <a16:creationId xmlns:a16="http://schemas.microsoft.com/office/drawing/2014/main" id="{D38808FB-CDFC-9058-20B6-4DD162F8126F}"/>
              </a:ext>
            </a:extLst>
          </p:cNvPr>
          <p:cNvSpPr/>
          <p:nvPr/>
        </p:nvSpPr>
        <p:spPr>
          <a:xfrm>
            <a:off x="7621500" y="1809735"/>
            <a:ext cx="420000" cy="4200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4</a:t>
            </a:r>
          </a:p>
        </p:txBody>
      </p:sp>
    </p:spTree>
    <p:extLst>
      <p:ext uri="{BB962C8B-B14F-4D97-AF65-F5344CB8AC3E}">
        <p14:creationId xmlns:p14="http://schemas.microsoft.com/office/powerpoint/2010/main" val="2714884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F0960037-F7FA-8D82-D9A4-ED53D9A4ADC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B19032A-9B74-42FB-F4F5-6353C528F656}"/>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65897C7C-D668-E6E8-CE08-58400A3260D8}"/>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F6699530-0E70-FF4E-D9C2-C736A62954EA}"/>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C838B44E-D1C7-B503-F2AA-08D1878E1899}"/>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EC3ADD0D-6F5D-70DE-C684-620441BAF0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F4AD16E4-583D-A23B-C8B4-D1ECD969BD8B}"/>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5" name="Google Shape;62;p13">
            <a:extLst>
              <a:ext uri="{FF2B5EF4-FFF2-40B4-BE49-F238E27FC236}">
                <a16:creationId xmlns:a16="http://schemas.microsoft.com/office/drawing/2014/main" id="{9E5EEF41-F486-1850-FD1C-F5949312D7F6}"/>
              </a:ext>
            </a:extLst>
          </p:cNvPr>
          <p:cNvSpPr txBox="1"/>
          <p:nvPr/>
        </p:nvSpPr>
        <p:spPr>
          <a:xfrm>
            <a:off x="300000" y="1300000"/>
            <a:ext cx="8500000" cy="400069"/>
          </a:xfrm>
          <a:prstGeom prst="rect">
            <a:avLst/>
          </a:prstGeom>
          <a:noFill/>
          <a:ln>
            <a:noFill/>
          </a:ln>
        </p:spPr>
        <p:txBody>
          <a:bodyPr spcFirstLastPara="1" wrap="square" lIns="91425" tIns="45700" rIns="91425" bIns="45700" anchor="t" anchorCtr="0">
            <a:spAutoFit/>
          </a:bodyPr>
          <a:lstStyle/>
          <a:p>
            <a:pPr lvl="0"/>
            <a:r>
              <a:rPr lang="en-IN" sz="2000" b="1" dirty="0">
                <a:solidFill>
                  <a:srgbClr val="C00000"/>
                </a:solidFill>
                <a:latin typeface="Times New Roman"/>
                <a:ea typeface="Times New Roman"/>
                <a:cs typeface="Times New Roman"/>
                <a:sym typeface="Times New Roman"/>
              </a:rPr>
              <a:t>Future Scope</a:t>
            </a:r>
            <a:endParaRPr lang="en-IN" sz="1800" dirty="0">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8EF65FD2-CFED-B1A1-8192-733958C4835B}"/>
              </a:ext>
            </a:extLst>
          </p:cNvPr>
          <p:cNvSpPr txBox="1"/>
          <p:nvPr/>
        </p:nvSpPr>
        <p:spPr>
          <a:xfrm>
            <a:off x="300000" y="1744547"/>
            <a:ext cx="8535619" cy="2275110"/>
          </a:xfrm>
          <a:prstGeom prst="rect">
            <a:avLst/>
          </a:prstGeom>
          <a:noFill/>
        </p:spPr>
        <p:txBody>
          <a:bodyPr wrap="square">
            <a:spAutoFit/>
          </a:bodyPr>
          <a:lstStyle/>
          <a:p>
            <a:pPr marL="342900" lvl="0" indent="-342900">
              <a:lnSpc>
                <a:spcPct val="150000"/>
              </a:lnSpc>
              <a:spcAft>
                <a:spcPts val="60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Real-Time Data Streams</a:t>
            </a:r>
          </a:p>
          <a:p>
            <a:pPr marL="342900" lvl="0" indent="-342900">
              <a:lnSpc>
                <a:spcPct val="150000"/>
              </a:lnSpc>
              <a:spcAft>
                <a:spcPts val="60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Learned Weight Calibration</a:t>
            </a:r>
          </a:p>
          <a:p>
            <a:pPr marL="342900" lvl="0" indent="-342900">
              <a:lnSpc>
                <a:spcPct val="150000"/>
              </a:lnSpc>
              <a:spcAft>
                <a:spcPts val="60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Cross-City Generalization</a:t>
            </a:r>
          </a:p>
          <a:p>
            <a:pPr marL="342900" lvl="0" indent="-342900">
              <a:lnSpc>
                <a:spcPct val="150000"/>
              </a:lnSpc>
              <a:spcAft>
                <a:spcPts val="60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Mobile Application</a:t>
            </a:r>
          </a:p>
        </p:txBody>
      </p:sp>
    </p:spTree>
    <p:extLst>
      <p:ext uri="{BB962C8B-B14F-4D97-AF65-F5344CB8AC3E}">
        <p14:creationId xmlns:p14="http://schemas.microsoft.com/office/powerpoint/2010/main" val="94063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C616CB1F-5D96-26A2-EF8B-F365558A18F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347F56-49A7-F13D-8A5A-40F366D688FB}"/>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BB7DD16D-7253-405E-50A6-8C991BC41AA6}"/>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0AB59B62-C382-5BDA-3434-66BD0C75457A}"/>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938B1922-3406-F820-3935-62A27DB17646}"/>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7745619A-2B53-F73D-82B8-8D212ACC6B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62131D5D-5020-4D1F-6159-285E66139CDE}"/>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5" name="Google Shape;62;p13">
            <a:extLst>
              <a:ext uri="{FF2B5EF4-FFF2-40B4-BE49-F238E27FC236}">
                <a16:creationId xmlns:a16="http://schemas.microsoft.com/office/drawing/2014/main" id="{3CE78FF8-F6F2-700C-50EF-BFDA85ABD99E}"/>
              </a:ext>
            </a:extLst>
          </p:cNvPr>
          <p:cNvSpPr txBox="1"/>
          <p:nvPr/>
        </p:nvSpPr>
        <p:spPr>
          <a:xfrm>
            <a:off x="300000" y="1300000"/>
            <a:ext cx="8500000" cy="400069"/>
          </a:xfrm>
          <a:prstGeom prst="rect">
            <a:avLst/>
          </a:prstGeom>
          <a:noFill/>
          <a:ln>
            <a:noFill/>
          </a:ln>
        </p:spPr>
        <p:txBody>
          <a:bodyPr spcFirstLastPara="1" wrap="square" lIns="91425" tIns="45700" rIns="91425" bIns="45700" anchor="t" anchorCtr="0">
            <a:spAutoFit/>
          </a:bodyPr>
          <a:lstStyle/>
          <a:p>
            <a:pPr lvl="0"/>
            <a:r>
              <a:rPr lang="en-IN" sz="2000" b="1" dirty="0">
                <a:solidFill>
                  <a:srgbClr val="C00000"/>
                </a:solidFill>
                <a:latin typeface="Times New Roman"/>
                <a:ea typeface="Times New Roman"/>
                <a:cs typeface="Times New Roman"/>
                <a:sym typeface="Times New Roman"/>
              </a:rPr>
              <a:t>Conclusion</a:t>
            </a:r>
            <a:endParaRPr lang="en-IN" sz="1800" dirty="0">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4019BF22-3863-BBB0-2201-DA870BDDE0B0}"/>
              </a:ext>
            </a:extLst>
          </p:cNvPr>
          <p:cNvSpPr txBox="1"/>
          <p:nvPr/>
        </p:nvSpPr>
        <p:spPr>
          <a:xfrm>
            <a:off x="298364" y="1757543"/>
            <a:ext cx="8186609" cy="2462213"/>
          </a:xfrm>
          <a:prstGeom prst="rect">
            <a:avLst/>
          </a:prstGeom>
          <a:noFill/>
        </p:spPr>
        <p:txBody>
          <a:bodyPr wrap="square">
            <a:spAutoFit/>
          </a:bodyPr>
          <a:lstStyle/>
          <a:p>
            <a:pPr lvl="0" algn="just"/>
            <a:r>
              <a:rPr lang="en-US" dirty="0">
                <a:latin typeface="Times New Roman" panose="02020603050405020304" pitchFamily="18" charset="0"/>
                <a:cs typeface="Times New Roman" panose="02020603050405020304" pitchFamily="18" charset="0"/>
              </a:rPr>
              <a:t>The project demonstrates that natural-language spatial intelligence can meaningfully simplify how businesses choose where to operate. Built on live </a:t>
            </a:r>
            <a:r>
              <a:rPr lang="en-US" dirty="0" err="1">
                <a:latin typeface="Times New Roman" panose="02020603050405020304" pitchFamily="18" charset="0"/>
                <a:cs typeface="Times New Roman" panose="02020603050405020304" pitchFamily="18" charset="0"/>
              </a:rPr>
              <a:t>PostGIS</a:t>
            </a:r>
            <a:r>
              <a:rPr lang="en-US" dirty="0">
                <a:latin typeface="Times New Roman" panose="02020603050405020304" pitchFamily="18" charset="0"/>
                <a:cs typeface="Times New Roman" panose="02020603050405020304" pitchFamily="18" charset="0"/>
              </a:rPr>
              <a:t> data spanning </a:t>
            </a:r>
            <a:r>
              <a:rPr lang="en-US" b="1" dirty="0">
                <a:latin typeface="Times New Roman" panose="02020603050405020304" pitchFamily="18" charset="0"/>
                <a:cs typeface="Times New Roman" panose="02020603050405020304" pitchFamily="18" charset="0"/>
              </a:rPr>
              <a:t>48 administrative boundaries, 16,800+ road segments, 10,800+ points of interest, 55,600+ real-estate listings, 2,200+ transit stops, and 40 crime-safety zones</a:t>
            </a:r>
            <a:r>
              <a:rPr lang="en-US" dirty="0">
                <a:latin typeface="Times New Roman" panose="02020603050405020304" pitchFamily="18" charset="0"/>
                <a:cs typeface="Times New Roman" panose="02020603050405020304" pitchFamily="18" charset="0"/>
              </a:rPr>
              <a:t> across Mumbai, the platform turns a single plain-English query into a grounded, map-based answer complete with the SQL and reasoning behind it. In real evaluations, a data-grounded budget estimate for opening a café in Bandra came out to </a:t>
            </a:r>
            <a:r>
              <a:rPr lang="en-US" b="1" dirty="0">
                <a:latin typeface="Times New Roman" panose="02020603050405020304" pitchFamily="18" charset="0"/>
                <a:cs typeface="Times New Roman" panose="02020603050405020304" pitchFamily="18" charset="0"/>
              </a:rPr>
              <a:t>≈₹62 lakh</a:t>
            </a:r>
            <a:r>
              <a:rPr lang="en-US" dirty="0">
                <a:latin typeface="Times New Roman" panose="02020603050405020304" pitchFamily="18" charset="0"/>
                <a:cs typeface="Times New Roman" panose="02020603050405020304" pitchFamily="18" charset="0"/>
              </a:rPr>
              <a:t>, and a premium restaurant in Lower Parel to </a:t>
            </a:r>
            <a:r>
              <a:rPr lang="en-US" b="1" dirty="0">
                <a:latin typeface="Times New Roman" panose="02020603050405020304" pitchFamily="18" charset="0"/>
                <a:cs typeface="Times New Roman" panose="02020603050405020304" pitchFamily="18" charset="0"/>
              </a:rPr>
              <a:t>≈₹1.3 crore </a:t>
            </a:r>
            <a:r>
              <a:rPr lang="en-US" dirty="0">
                <a:latin typeface="Times New Roman" panose="02020603050405020304" pitchFamily="18" charset="0"/>
                <a:cs typeface="Times New Roman" panose="02020603050405020304" pitchFamily="18" charset="0"/>
              </a:rPr>
              <a:t>figures generated in seconds rather than the weeks a manual site survey would typically take. By replacing scattered manual research with one unified, verifiable query interface, Our project makes location intelligence accessible to businesses without dedicated GIS or data teams, and its city-agnostic architecture means this same capability can extend well beyond Mumbai.</a:t>
            </a:r>
          </a:p>
          <a:p>
            <a:pPr lvl="0"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7283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2DDF6233-2213-9DE7-0384-FD2E5E6193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5EF41DB-BA66-B530-3083-2D5827F8E522}"/>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B0F60ECF-C2DE-ECD9-BE9F-4561339DA83B}"/>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9E889681-3007-B447-1F1F-CB57E44079C2}"/>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685EDB76-054D-6747-B086-4FC3E0155731}"/>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7264FC4E-3387-E874-ECFE-049C3FA8DB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B99E41EF-F00B-22A5-7155-796E4FC78B49}"/>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5" name="Google Shape;62;p13">
            <a:extLst>
              <a:ext uri="{FF2B5EF4-FFF2-40B4-BE49-F238E27FC236}">
                <a16:creationId xmlns:a16="http://schemas.microsoft.com/office/drawing/2014/main" id="{91BF8489-284D-1A1F-9415-961D6333D42F}"/>
              </a:ext>
            </a:extLst>
          </p:cNvPr>
          <p:cNvSpPr txBox="1"/>
          <p:nvPr/>
        </p:nvSpPr>
        <p:spPr>
          <a:xfrm>
            <a:off x="300000" y="1300000"/>
            <a:ext cx="8500000" cy="400069"/>
          </a:xfrm>
          <a:prstGeom prst="rect">
            <a:avLst/>
          </a:prstGeom>
          <a:noFill/>
          <a:ln>
            <a:noFill/>
          </a:ln>
        </p:spPr>
        <p:txBody>
          <a:bodyPr spcFirstLastPara="1" wrap="square" lIns="91425" tIns="45700" rIns="91425" bIns="45700" anchor="t" anchorCtr="0">
            <a:spAutoFit/>
          </a:bodyPr>
          <a:lstStyle/>
          <a:p>
            <a:r>
              <a:rPr lang="en-IN" sz="2000" b="1" dirty="0">
                <a:solidFill>
                  <a:srgbClr val="C00000"/>
                </a:solidFill>
                <a:latin typeface="Times New Roman"/>
                <a:ea typeface="Times New Roman"/>
                <a:cs typeface="Times New Roman"/>
                <a:sym typeface="Times New Roman"/>
              </a:rPr>
              <a:t>References</a:t>
            </a:r>
            <a:endParaRPr lang="en-IN" sz="1800" dirty="0">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B93DE465-11F0-F7E5-CB94-DFBD50D802D0}"/>
              </a:ext>
            </a:extLst>
          </p:cNvPr>
          <p:cNvSpPr txBox="1"/>
          <p:nvPr/>
        </p:nvSpPr>
        <p:spPr>
          <a:xfrm>
            <a:off x="309741" y="1758791"/>
            <a:ext cx="8515350" cy="2862322"/>
          </a:xfrm>
          <a:prstGeom prst="rect">
            <a:avLst/>
          </a:prstGeom>
          <a:noFill/>
        </p:spPr>
        <p:txBody>
          <a:bodyPr wrap="square">
            <a:spAutoFit/>
          </a:bodyPr>
          <a:lstStyle/>
          <a:p>
            <a:pPr marL="342900" lvl="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[1] A. K. Kazazi, Z. Li, M. N. </a:t>
            </a:r>
            <a:r>
              <a:rPr lang="en-IN" sz="1000" dirty="0" err="1">
                <a:latin typeface="Times New Roman" panose="02020603050405020304" pitchFamily="18" charset="0"/>
                <a:cs typeface="Times New Roman" panose="02020603050405020304" pitchFamily="18" charset="0"/>
              </a:rPr>
              <a:t>Lessani</a:t>
            </a:r>
            <a:r>
              <a:rPr lang="en-IN" sz="1000" dirty="0">
                <a:latin typeface="Times New Roman" panose="02020603050405020304" pitchFamily="18" charset="0"/>
                <a:cs typeface="Times New Roman" panose="02020603050405020304" pitchFamily="18" charset="0"/>
              </a:rPr>
              <a:t>, and G. Cervone, “From Questions to Queries: An AI-powered Multi-Agent Framework for Spatial Text-to-SQL,” </a:t>
            </a:r>
            <a:r>
              <a:rPr lang="en-IN" sz="1000" dirty="0" err="1">
                <a:latin typeface="Times New Roman" panose="02020603050405020304" pitchFamily="18" charset="0"/>
                <a:cs typeface="Times New Roman" panose="02020603050405020304" pitchFamily="18" charset="0"/>
              </a:rPr>
              <a:t>arXiv</a:t>
            </a:r>
            <a:r>
              <a:rPr lang="en-IN" sz="1000" dirty="0">
                <a:latin typeface="Times New Roman" panose="02020603050405020304" pitchFamily="18" charset="0"/>
                <a:cs typeface="Times New Roman" panose="02020603050405020304" pitchFamily="18" charset="0"/>
              </a:rPr>
              <a:t>, 2025.</a:t>
            </a:r>
          </a:p>
          <a:p>
            <a:pPr marL="342900" lvl="0" indent="-342900">
              <a:buFont typeface="Arial" panose="020B0604020202020204" pitchFamily="34" charset="0"/>
              <a:buChar char="•"/>
            </a:pPr>
            <a:endParaRPr lang="en-IN" sz="1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[2] X. Zhang, F. Xiao, L. Yan, and Z. Zhang, “GS-SQL: </a:t>
            </a:r>
            <a:r>
              <a:rPr lang="en-IN" sz="1000" dirty="0" err="1">
                <a:latin typeface="Times New Roman" panose="02020603050405020304" pitchFamily="18" charset="0"/>
                <a:cs typeface="Times New Roman" panose="02020603050405020304" pitchFamily="18" charset="0"/>
              </a:rPr>
              <a:t>Modeling</a:t>
            </a:r>
            <a:r>
              <a:rPr lang="en-IN" sz="1000" dirty="0">
                <a:latin typeface="Times New Roman" panose="02020603050405020304" pitchFamily="18" charset="0"/>
                <a:cs typeface="Times New Roman" panose="02020603050405020304" pitchFamily="18" charset="0"/>
              </a:rPr>
              <a:t> Spatial Semantics in Spatial Text-to-SQL,” IJCNN, 2024.</a:t>
            </a:r>
          </a:p>
          <a:p>
            <a:pPr marL="342900" lvl="0" indent="-342900">
              <a:buFont typeface="Arial" panose="020B0604020202020204" pitchFamily="34" charset="0"/>
              <a:buChar char="•"/>
            </a:pPr>
            <a:endParaRPr lang="en-IN" sz="1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[3] G. </a:t>
            </a:r>
            <a:r>
              <a:rPr lang="en-IN" sz="1000" dirty="0" err="1">
                <a:latin typeface="Times New Roman" panose="02020603050405020304" pitchFamily="18" charset="0"/>
                <a:cs typeface="Times New Roman" panose="02020603050405020304" pitchFamily="18" charset="0"/>
              </a:rPr>
              <a:t>Andrienko</a:t>
            </a:r>
            <a:r>
              <a:rPr lang="en-IN" sz="1000" dirty="0">
                <a:latin typeface="Times New Roman" panose="02020603050405020304" pitchFamily="18" charset="0"/>
                <a:cs typeface="Times New Roman" panose="02020603050405020304" pitchFamily="18" charset="0"/>
              </a:rPr>
              <a:t> et al., “</a:t>
            </a:r>
            <a:r>
              <a:rPr lang="en-IN" sz="1000" dirty="0" err="1">
                <a:latin typeface="Times New Roman" panose="02020603050405020304" pitchFamily="18" charset="0"/>
                <a:cs typeface="Times New Roman" panose="02020603050405020304" pitchFamily="18" charset="0"/>
              </a:rPr>
              <a:t>Geovisual</a:t>
            </a:r>
            <a:r>
              <a:rPr lang="en-IN" sz="1000" dirty="0">
                <a:latin typeface="Times New Roman" panose="02020603050405020304" pitchFamily="18" charset="0"/>
                <a:cs typeface="Times New Roman" panose="02020603050405020304" pitchFamily="18" charset="0"/>
              </a:rPr>
              <a:t> analytics for spatial decision support: Setting the research agenda,” Int. J. Geographical Information Science, vol. 21, pp. 839–857, 2007.</a:t>
            </a:r>
          </a:p>
          <a:p>
            <a:pPr marL="342900" lvl="0" indent="-342900">
              <a:buFont typeface="Arial" panose="020B0604020202020204" pitchFamily="34" charset="0"/>
              <a:buChar char="•"/>
            </a:pPr>
            <a:endParaRPr lang="en-IN" sz="1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[4] R. Wen and S. Li, “Spatial Decision Support Systems with Automated Machine Learning: A Review,” ISPRS Int. J. Geo-Information, vol. 12, p. 12, 2022.</a:t>
            </a:r>
          </a:p>
          <a:p>
            <a:pPr marL="342900" lvl="0" indent="-342900">
              <a:buFont typeface="Arial" panose="020B0604020202020204" pitchFamily="34" charset="0"/>
              <a:buChar char="•"/>
            </a:pPr>
            <a:endParaRPr lang="en-IN" sz="1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[5] G. </a:t>
            </a:r>
            <a:r>
              <a:rPr lang="en-IN" sz="1000" dirty="0" err="1">
                <a:latin typeface="Times New Roman" panose="02020603050405020304" pitchFamily="18" charset="0"/>
                <a:cs typeface="Times New Roman" panose="02020603050405020304" pitchFamily="18" charset="0"/>
              </a:rPr>
              <a:t>Katsogiannis-Meimarakis</a:t>
            </a:r>
            <a:r>
              <a:rPr lang="en-IN" sz="1000" dirty="0">
                <a:latin typeface="Times New Roman" panose="02020603050405020304" pitchFamily="18" charset="0"/>
                <a:cs typeface="Times New Roman" panose="02020603050405020304" pitchFamily="18" charset="0"/>
              </a:rPr>
              <a:t> and G. </a:t>
            </a:r>
            <a:r>
              <a:rPr lang="en-IN" sz="1000" dirty="0" err="1">
                <a:latin typeface="Times New Roman" panose="02020603050405020304" pitchFamily="18" charset="0"/>
                <a:cs typeface="Times New Roman" panose="02020603050405020304" pitchFamily="18" charset="0"/>
              </a:rPr>
              <a:t>Koutrika</a:t>
            </a:r>
            <a:r>
              <a:rPr lang="en-IN" sz="1000" dirty="0">
                <a:latin typeface="Times New Roman" panose="02020603050405020304" pitchFamily="18" charset="0"/>
                <a:cs typeface="Times New Roman" panose="02020603050405020304" pitchFamily="18" charset="0"/>
              </a:rPr>
              <a:t>, “A survey on deep learning approaches for Text-to-SQL,” The VLDB Journal, vol. 32, no. 4, pp. 905–936, 2023.</a:t>
            </a:r>
          </a:p>
          <a:p>
            <a:pPr marL="342900" lvl="0" indent="-342900">
              <a:buFont typeface="Arial" panose="020B0604020202020204" pitchFamily="34" charset="0"/>
              <a:buChar char="•"/>
            </a:pPr>
            <a:endParaRPr lang="en-IN" sz="1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[6] M. </a:t>
            </a:r>
            <a:r>
              <a:rPr lang="en-IN" sz="1000" dirty="0" err="1">
                <a:latin typeface="Times New Roman" panose="02020603050405020304" pitchFamily="18" charset="0"/>
                <a:cs typeface="Times New Roman" panose="02020603050405020304" pitchFamily="18" charset="0"/>
              </a:rPr>
              <a:t>Haklay</a:t>
            </a:r>
            <a:r>
              <a:rPr lang="en-IN" sz="1000" dirty="0">
                <a:latin typeface="Times New Roman" panose="02020603050405020304" pitchFamily="18" charset="0"/>
                <a:cs typeface="Times New Roman" panose="02020603050405020304" pitchFamily="18" charset="0"/>
              </a:rPr>
              <a:t> and P. Weber, “OpenStreetMap: User-Generated Street Maps,” IEEE Pervasive Computing, vol. 7, no. 4, pp. 12–18, 2008.</a:t>
            </a:r>
          </a:p>
          <a:p>
            <a:pPr marL="342900" lvl="0" indent="-342900">
              <a:buFont typeface="Arial" panose="020B0604020202020204" pitchFamily="34" charset="0"/>
              <a:buChar char="•"/>
            </a:pPr>
            <a:endParaRPr lang="en-IN" sz="1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[7] J. Malczewski, “GIS-based multicriteria decision analysis: a survey of the literature,” Int. J. Geographical Information Science, vol. 20, no. 7, pp. 703–726, 2006.</a:t>
            </a:r>
          </a:p>
        </p:txBody>
      </p:sp>
    </p:spTree>
    <p:extLst>
      <p:ext uri="{BB962C8B-B14F-4D97-AF65-F5344CB8AC3E}">
        <p14:creationId xmlns:p14="http://schemas.microsoft.com/office/powerpoint/2010/main" val="8928150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BEEF7929-2959-90AA-2E93-1416F6432BF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26E5EE-C9F6-0638-C4BC-FF77312487D5}"/>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7C7FF340-2CE1-FCBC-4DCE-EBD8EC6B8625}"/>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112706EF-01A2-1059-A7A7-EDC78EA28384}"/>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39D10AA7-691C-A2D5-E55F-2AA74A5FBFE5}"/>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4EEA214B-14A5-869C-39E9-EDD053BD53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829FAC7D-1A46-2371-FAF5-B4BACE51CEA7}"/>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5" name="Google Shape;62;p13">
            <a:extLst>
              <a:ext uri="{FF2B5EF4-FFF2-40B4-BE49-F238E27FC236}">
                <a16:creationId xmlns:a16="http://schemas.microsoft.com/office/drawing/2014/main" id="{C18F9D5F-B47F-23BE-1422-8D24388876CD}"/>
              </a:ext>
            </a:extLst>
          </p:cNvPr>
          <p:cNvSpPr txBox="1"/>
          <p:nvPr/>
        </p:nvSpPr>
        <p:spPr>
          <a:xfrm>
            <a:off x="300000" y="1300000"/>
            <a:ext cx="8500000" cy="400069"/>
          </a:xfrm>
          <a:prstGeom prst="rect">
            <a:avLst/>
          </a:prstGeom>
          <a:noFill/>
          <a:ln>
            <a:noFill/>
          </a:ln>
        </p:spPr>
        <p:txBody>
          <a:bodyPr spcFirstLastPara="1" wrap="square" lIns="91425" tIns="45700" rIns="91425" bIns="45700" anchor="t" anchorCtr="0">
            <a:spAutoFit/>
          </a:bodyPr>
          <a:lstStyle/>
          <a:p>
            <a:r>
              <a:rPr lang="en-IN" sz="2000" b="1" dirty="0">
                <a:solidFill>
                  <a:srgbClr val="C00000"/>
                </a:solidFill>
                <a:latin typeface="Times New Roman"/>
                <a:ea typeface="Times New Roman"/>
                <a:cs typeface="Times New Roman"/>
                <a:sym typeface="Times New Roman"/>
              </a:rPr>
              <a:t>References</a:t>
            </a:r>
            <a:endParaRPr lang="en-IN" sz="1800" dirty="0">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A48B08E3-FC4C-4D05-3042-43312CBB89CD}"/>
              </a:ext>
            </a:extLst>
          </p:cNvPr>
          <p:cNvSpPr txBox="1"/>
          <p:nvPr/>
        </p:nvSpPr>
        <p:spPr>
          <a:xfrm>
            <a:off x="309741" y="1758791"/>
            <a:ext cx="8515350" cy="1477328"/>
          </a:xfrm>
          <a:prstGeom prst="rect">
            <a:avLst/>
          </a:prstGeom>
          <a:noFill/>
        </p:spPr>
        <p:txBody>
          <a:bodyPr wrap="square">
            <a:spAutoFit/>
          </a:bodyPr>
          <a:lstStyle/>
          <a:p>
            <a:pPr marL="34290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[8] Y. Zheng, L. Capra, O. Wolfson, and H. Yang, “Urban Computing: Concepts, Methodologies, and Applications,” ACM TIST, vol. 5, no. 3, pp. 1–55, 2014.</a:t>
            </a:r>
          </a:p>
          <a:p>
            <a:pPr marL="342900" lvl="0" indent="-342900">
              <a:buFont typeface="Arial" panose="020B0604020202020204" pitchFamily="34" charset="0"/>
              <a:buChar char="•"/>
            </a:pPr>
            <a:endParaRPr lang="en-IN" sz="1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[9] R. O. Obe and L. S. Hsu, </a:t>
            </a:r>
            <a:r>
              <a:rPr lang="en-IN" sz="1000" dirty="0" err="1">
                <a:latin typeface="Times New Roman" panose="02020603050405020304" pitchFamily="18" charset="0"/>
                <a:cs typeface="Times New Roman" panose="02020603050405020304" pitchFamily="18" charset="0"/>
              </a:rPr>
              <a:t>PostGIS</a:t>
            </a:r>
            <a:r>
              <a:rPr lang="en-IN" sz="1000" dirty="0">
                <a:latin typeface="Times New Roman" panose="02020603050405020304" pitchFamily="18" charset="0"/>
                <a:cs typeface="Times New Roman" panose="02020603050405020304" pitchFamily="18" charset="0"/>
              </a:rPr>
              <a:t> in Action, 3rd ed. Manning Publications, 2021.</a:t>
            </a:r>
          </a:p>
          <a:p>
            <a:pPr marL="342900" lvl="0" indent="-342900">
              <a:buFont typeface="Arial" panose="020B0604020202020204" pitchFamily="34" charset="0"/>
              <a:buChar char="•"/>
            </a:pPr>
            <a:endParaRPr lang="en-IN" sz="1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[10] M. Gritta, M. T. </a:t>
            </a:r>
            <a:r>
              <a:rPr lang="en-IN" sz="1000" dirty="0" err="1">
                <a:latin typeface="Times New Roman" panose="02020603050405020304" pitchFamily="18" charset="0"/>
                <a:cs typeface="Times New Roman" panose="02020603050405020304" pitchFamily="18" charset="0"/>
              </a:rPr>
              <a:t>Pilehvar</a:t>
            </a:r>
            <a:r>
              <a:rPr lang="en-IN" sz="1000" dirty="0">
                <a:latin typeface="Times New Roman" panose="02020603050405020304" pitchFamily="18" charset="0"/>
                <a:cs typeface="Times New Roman" panose="02020603050405020304" pitchFamily="18" charset="0"/>
              </a:rPr>
              <a:t>, C. Lignos, and N. Collier, “What's missing in geographical parsing?,” Language Resources and Evaluation, vol. 52, no. 2, pp. 603–623, 2018.</a:t>
            </a:r>
          </a:p>
          <a:p>
            <a:pPr marL="342900" lvl="0" indent="-342900">
              <a:buFont typeface="Arial" panose="020B0604020202020204" pitchFamily="34" charset="0"/>
              <a:buChar char="•"/>
            </a:pPr>
            <a:endParaRPr lang="en-IN" sz="1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[11] X. Cao, G. Cong, C. S. Jensen, and B. C. Ooi, “Collective spatial keyword querying,” in Proc. ACM SIGMOD, 2012, pp. 373–384.</a:t>
            </a:r>
          </a:p>
          <a:p>
            <a:pPr marL="342900" lvl="0" indent="-342900">
              <a:buFont typeface="Arial" panose="020B0604020202020204" pitchFamily="34" charset="0"/>
              <a:buChar char="•"/>
            </a:pPr>
            <a:endParaRPr lang="en-IN" sz="1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[12] Felt, “Felt AI: AI-powered GIS and mapping platform,” Felt Help Center, 2025. [Online]. Available: https://help.felt.com/felt-ai</a:t>
            </a:r>
          </a:p>
        </p:txBody>
      </p:sp>
    </p:spTree>
    <p:extLst>
      <p:ext uri="{BB962C8B-B14F-4D97-AF65-F5344CB8AC3E}">
        <p14:creationId xmlns:p14="http://schemas.microsoft.com/office/powerpoint/2010/main" val="3812245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D249E2FF-7DD9-EC1B-AD92-B5825BFFFF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654F3DF-D776-9C44-4AB0-01A9D9E44D83}"/>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FE14819B-A2A4-F82D-EAEC-06D3F1AE8F22}"/>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AE4DCA9F-17A9-DFB5-CE57-FF3FEBFE31AD}"/>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A2BA4D17-A024-D182-7185-0F2AA82B8EB1}"/>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747ECE37-1D4A-CB6B-3EC5-211363DE71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A0D94E51-6F52-94FE-7C86-426F8587AFAC}"/>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11" name="Google Shape;62;p13">
            <a:extLst>
              <a:ext uri="{FF2B5EF4-FFF2-40B4-BE49-F238E27FC236}">
                <a16:creationId xmlns:a16="http://schemas.microsoft.com/office/drawing/2014/main" id="{A4BD19CF-2634-830F-A672-136164E3A4ED}"/>
              </a:ext>
            </a:extLst>
          </p:cNvPr>
          <p:cNvSpPr txBox="1"/>
          <p:nvPr/>
        </p:nvSpPr>
        <p:spPr>
          <a:xfrm>
            <a:off x="300000" y="1300000"/>
            <a:ext cx="8500000" cy="42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dirty="0">
                <a:solidFill>
                  <a:srgbClr val="C00000"/>
                </a:solidFill>
                <a:latin typeface="Times New Roman"/>
                <a:ea typeface="Times New Roman"/>
                <a:cs typeface="Times New Roman"/>
                <a:sym typeface="Times New Roman"/>
              </a:rPr>
              <a:t>How Our Project Overcomes the Research Gaps</a:t>
            </a:r>
            <a:endParaRPr sz="1800" dirty="0">
              <a:solidFill>
                <a:srgbClr val="000000"/>
              </a:solidFill>
              <a:latin typeface="Times New Roman"/>
              <a:ea typeface="Times New Roman"/>
              <a:cs typeface="Times New Roman"/>
              <a:sym typeface="Times New Roman"/>
            </a:endParaRPr>
          </a:p>
        </p:txBody>
      </p:sp>
      <p:sp>
        <p:nvSpPr>
          <p:cNvPr id="13" name="TextBox 12">
            <a:extLst>
              <a:ext uri="{FF2B5EF4-FFF2-40B4-BE49-F238E27FC236}">
                <a16:creationId xmlns:a16="http://schemas.microsoft.com/office/drawing/2014/main" id="{D5299837-CD29-4FF5-BEE9-5C18315A4BC8}"/>
              </a:ext>
            </a:extLst>
          </p:cNvPr>
          <p:cNvSpPr txBox="1"/>
          <p:nvPr/>
        </p:nvSpPr>
        <p:spPr>
          <a:xfrm>
            <a:off x="374386" y="1859048"/>
            <a:ext cx="8535619" cy="2123658"/>
          </a:xfrm>
          <a:prstGeom prst="rect">
            <a:avLst/>
          </a:prstGeom>
          <a:noFill/>
        </p:spPr>
        <p:txBody>
          <a:bodyPr wrap="square">
            <a:spAutoFit/>
          </a:bodyPr>
          <a:lstStyle/>
          <a:p>
            <a:pPr marL="285750" indent="-285750">
              <a:spcAft>
                <a:spcPts val="7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Lack of logging and code testing (LLM-Geo): </a:t>
            </a:r>
            <a:r>
              <a:rPr lang="en-US" sz="1200" dirty="0">
                <a:latin typeface="Times New Roman" panose="02020603050405020304" pitchFamily="18" charset="0"/>
                <a:cs typeface="Times New Roman" panose="02020603050405020304" pitchFamily="18" charset="0"/>
              </a:rPr>
              <a:t>every query is logged, and the generated SQL is validated before it runs on PostGIS, with the SQL and reasoning shown alongside the answer.</a:t>
            </a:r>
          </a:p>
          <a:p>
            <a:pPr marL="285750" indent="-285750">
              <a:spcAft>
                <a:spcPts val="7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Geodesic vs. planar distance and aggregation errors (Spatial Text-to-SQL): </a:t>
            </a:r>
            <a:r>
              <a:rPr lang="en-US" sz="1200" dirty="0">
                <a:latin typeface="Times New Roman" panose="02020603050405020304" pitchFamily="18" charset="0"/>
                <a:cs typeface="Times New Roman" panose="02020603050405020304" pitchFamily="18" charset="0"/>
              </a:rPr>
              <a:t>distances are computed in metres on the correct coordinate system, and results are checked through execution-based review before an answer is returned.</a:t>
            </a:r>
          </a:p>
          <a:p>
            <a:pPr marL="285750" indent="-285750">
              <a:spcAft>
                <a:spcPts val="7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Dependence on predefined mapping rules (NALSpatial): </a:t>
            </a:r>
            <a:r>
              <a:rPr lang="en-US" sz="1200" dirty="0">
                <a:latin typeface="Times New Roman" panose="02020603050405020304" pitchFamily="18" charset="0"/>
                <a:cs typeface="Times New Roman" panose="02020603050405020304" pitchFamily="18" charset="0"/>
              </a:rPr>
              <a:t>an LLM interprets intent with schema grounding, so open-ended business questions are handled without a fixed rule set or query categories.</a:t>
            </a:r>
          </a:p>
          <a:p>
            <a:pPr marL="285750" indent="-285750">
              <a:spcAft>
                <a:spcPts val="7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Weak multi-entity spatial reasoning (GS-SQL): </a:t>
            </a:r>
            <a:r>
              <a:rPr lang="en-US" sz="1200" dirty="0">
                <a:latin typeface="Times New Roman" panose="02020603050405020304" pitchFamily="18" charset="0"/>
                <a:cs typeface="Times New Roman" panose="02020603050405020304" pitchFamily="18" charset="0"/>
              </a:rPr>
              <a:t>complex requests such as "a cafe near a metro in a safe area" are broken into planned steps before SQL is generated.</a:t>
            </a:r>
          </a:p>
          <a:p>
            <a:pPr marL="285750" indent="-285750">
              <a:spcAft>
                <a:spcPts val="7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Raw coordinates alone fail (GeoLLM): </a:t>
            </a:r>
            <a:r>
              <a:rPr lang="en-US" sz="1200" dirty="0">
                <a:latin typeface="Times New Roman" panose="02020603050405020304" pitchFamily="18" charset="0"/>
                <a:cs typeface="Times New Roman" panose="02020603050405020304" pitchFamily="18" charset="0"/>
              </a:rPr>
              <a:t>answers are grounded in live Mumbai data (roads, POIs, real estate listings, crime and transit) rather than in the model's memory.</a:t>
            </a:r>
          </a:p>
        </p:txBody>
      </p:sp>
    </p:spTree>
    <p:extLst>
      <p:ext uri="{BB962C8B-B14F-4D97-AF65-F5344CB8AC3E}">
        <p14:creationId xmlns:p14="http://schemas.microsoft.com/office/powerpoint/2010/main" val="152804624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759</TotalTime>
  <Words>2090</Words>
  <Application>Microsoft Office PowerPoint</Application>
  <PresentationFormat>On-screen Show (16:9)</PresentationFormat>
  <Paragraphs>204</Paragraphs>
  <Slides>20</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Cambria Math</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Riddhesh C</cp:lastModifiedBy>
  <cp:revision>55</cp:revision>
  <dcterms:modified xsi:type="dcterms:W3CDTF">2026-09-23T09:52:32Z</dcterms:modified>
</cp:coreProperties>
</file>