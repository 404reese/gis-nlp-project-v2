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32404050" cx="21602700"/>
  <p:notesSz cx="6858000" cy="9144000"/>
  <p:embeddedFontLst>
    <p:embeddedFont>
      <p:font typeface="Marcellus"/>
      <p:regular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206">
          <p15:clr>
            <a:srgbClr val="000000"/>
          </p15:clr>
        </p15:guide>
        <p15:guide id="2" pos="6804">
          <p15:clr>
            <a:srgbClr val="000000"/>
          </p15:clr>
        </p15:guide>
      </p15:sldGuideLst>
    </p:ext>
    <p:ext uri="GoogleSlidesCustomDataVersion2">
      <go:slidesCustomData xmlns:go="http://customooxmlschemas.google.com/" r:id="rId8" roundtripDataSignature="AMtx7mgv9j1p1WcTRVaugHoblAROxnDA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206" orient="horz"/>
        <p:guide pos="68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Marcellus-regular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620203" y="10066261"/>
            <a:ext cx="18362295" cy="6945868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240405" y="18362295"/>
            <a:ext cx="15121890" cy="828103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rgbClr val="888888"/>
              </a:buClr>
              <a:buSzPts val="108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rgbClr val="888888"/>
              </a:buClr>
              <a:buSzPts val="9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rgbClr val="888888"/>
              </a:buClr>
              <a:buSzPts val="81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80135" y="7560947"/>
            <a:ext cx="19442430" cy="213851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706464" y="20822605"/>
            <a:ext cx="18362295" cy="6435804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0"/>
              <a:buFont typeface="Calibri"/>
              <a:buNone/>
              <a:defRPr b="1" sz="135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1706464" y="13734221"/>
            <a:ext cx="18362295" cy="7088384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rgbClr val="888888"/>
              </a:buClr>
              <a:buSzPts val="6800"/>
              <a:buNone/>
              <a:defRPr sz="6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100"/>
              <a:buNone/>
              <a:defRPr sz="61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888888"/>
              </a:buClr>
              <a:buSzPts val="5400"/>
              <a:buNone/>
              <a:defRPr sz="5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4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2550319" y="35726968"/>
            <a:ext cx="22787848" cy="101045127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831850" lvl="0" marL="4572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1pPr>
            <a:lvl2pPr indent="-742950" lvl="1" marL="9144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2pPr>
            <a:lvl3pPr indent="-660400" lvl="2" marL="13716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3pPr>
            <a:lvl4pPr indent="-615950" lvl="3" marL="18288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–"/>
              <a:defRPr sz="6100"/>
            </a:lvl4pPr>
            <a:lvl5pPr indent="-615950" lvl="4" marL="22860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»"/>
              <a:defRPr sz="6100"/>
            </a:lvl5pPr>
            <a:lvl6pPr indent="-615950" lvl="5" marL="2743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6pPr>
            <a:lvl7pPr indent="-615950" lvl="6" marL="32004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7pPr>
            <a:lvl8pPr indent="-615950" lvl="7" marL="3657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8pPr>
            <a:lvl9pPr indent="-615950" lvl="8" marL="41148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25698212" y="35726968"/>
            <a:ext cx="22787848" cy="101045127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831850" lvl="0" marL="4572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•"/>
              <a:defRPr sz="9500"/>
            </a:lvl1pPr>
            <a:lvl2pPr indent="-742950" lvl="1" marL="9144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–"/>
              <a:defRPr sz="8100"/>
            </a:lvl2pPr>
            <a:lvl3pPr indent="-660400" lvl="2" marL="13716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3pPr>
            <a:lvl4pPr indent="-615950" lvl="3" marL="18288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–"/>
              <a:defRPr sz="6100"/>
            </a:lvl4pPr>
            <a:lvl5pPr indent="-615950" lvl="4" marL="22860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»"/>
              <a:defRPr sz="6100"/>
            </a:lvl5pPr>
            <a:lvl6pPr indent="-615950" lvl="5" marL="27432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6pPr>
            <a:lvl7pPr indent="-615950" lvl="6" marL="32004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7pPr>
            <a:lvl8pPr indent="-615950" lvl="7" marL="3657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8pPr>
            <a:lvl9pPr indent="-615950" lvl="8" marL="41148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080135" y="7253409"/>
            <a:ext cx="9544944" cy="3022875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None/>
              <a:defRPr b="1" sz="8100"/>
            </a:lvl1pPr>
            <a:lvl2pPr indent="-228600" lvl="1" marL="914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None/>
              <a:defRPr b="1" sz="6800"/>
            </a:lvl2pPr>
            <a:lvl3pPr indent="-228600" lvl="2" marL="1371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None/>
              <a:defRPr b="1" sz="6100"/>
            </a:lvl3pPr>
            <a:lvl4pPr indent="-228600" lvl="3" marL="1828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4pPr>
            <a:lvl5pPr indent="-228600" lvl="4" marL="22860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5pPr>
            <a:lvl6pPr indent="-228600" lvl="5" marL="27432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6pPr>
            <a:lvl7pPr indent="-228600" lvl="6" marL="32004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7pPr>
            <a:lvl8pPr indent="-228600" lvl="7" marL="3657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8pPr>
            <a:lvl9pPr indent="-228600" lvl="8" marL="4114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080135" y="10276284"/>
            <a:ext cx="9544944" cy="1866983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742950" lvl="0" marL="4572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1pPr>
            <a:lvl2pPr indent="-660400" lvl="1" marL="914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–"/>
              <a:defRPr sz="6800"/>
            </a:lvl2pPr>
            <a:lvl3pPr indent="-615950" lvl="2" marL="1371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3pPr>
            <a:lvl4pPr indent="-571500" lvl="3" marL="1828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–"/>
              <a:defRPr sz="5400"/>
            </a:lvl4pPr>
            <a:lvl5pPr indent="-571500" lvl="4" marL="22860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»"/>
              <a:defRPr sz="5400"/>
            </a:lvl5pPr>
            <a:lvl6pPr indent="-571500" lvl="5" marL="27432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6pPr>
            <a:lvl7pPr indent="-571500" lvl="6" marL="32004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7pPr>
            <a:lvl8pPr indent="-571500" lvl="7" marL="3657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8pPr>
            <a:lvl9pPr indent="-571500" lvl="8" marL="4114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0973873" y="7253409"/>
            <a:ext cx="9548693" cy="3022875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None/>
              <a:defRPr b="1" sz="8100"/>
            </a:lvl1pPr>
            <a:lvl2pPr indent="-228600" lvl="1" marL="914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None/>
              <a:defRPr b="1" sz="6800"/>
            </a:lvl2pPr>
            <a:lvl3pPr indent="-228600" lvl="2" marL="1371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None/>
              <a:defRPr b="1" sz="6100"/>
            </a:lvl3pPr>
            <a:lvl4pPr indent="-228600" lvl="3" marL="1828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4pPr>
            <a:lvl5pPr indent="-228600" lvl="4" marL="22860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5pPr>
            <a:lvl6pPr indent="-228600" lvl="5" marL="27432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6pPr>
            <a:lvl7pPr indent="-228600" lvl="6" marL="32004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7pPr>
            <a:lvl8pPr indent="-228600" lvl="7" marL="3657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8pPr>
            <a:lvl9pPr indent="-228600" lvl="8" marL="4114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b="1" sz="54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0973873" y="10276284"/>
            <a:ext cx="9548693" cy="18669836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742950" lvl="0" marL="4572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1pPr>
            <a:lvl2pPr indent="-660400" lvl="1" marL="914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–"/>
              <a:defRPr sz="6800"/>
            </a:lvl2pPr>
            <a:lvl3pPr indent="-615950" lvl="2" marL="137160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100"/>
              <a:buChar char="•"/>
              <a:defRPr sz="6100"/>
            </a:lvl3pPr>
            <a:lvl4pPr indent="-571500" lvl="3" marL="1828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–"/>
              <a:defRPr sz="5400"/>
            </a:lvl4pPr>
            <a:lvl5pPr indent="-571500" lvl="4" marL="22860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»"/>
              <a:defRPr sz="5400"/>
            </a:lvl5pPr>
            <a:lvl6pPr indent="-571500" lvl="5" marL="27432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6pPr>
            <a:lvl7pPr indent="-571500" lvl="6" marL="32004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7pPr>
            <a:lvl8pPr indent="-571500" lvl="7" marL="36576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8pPr>
            <a:lvl9pPr indent="-571500" lvl="8" marL="411480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dk1"/>
              </a:buClr>
              <a:buSzPts val="5400"/>
              <a:buChar char="•"/>
              <a:defRPr sz="54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080136" y="1290161"/>
            <a:ext cx="7107139" cy="5490686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  <a:defRPr b="1" sz="6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8446056" y="1290164"/>
            <a:ext cx="12076509" cy="27655959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914400" lvl="0" marL="45720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0"/>
              <a:buChar char="•"/>
              <a:defRPr sz="10800"/>
            </a:lvl1pPr>
            <a:lvl2pPr indent="-831850" lvl="1" marL="91440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Char char="–"/>
              <a:defRPr sz="9500"/>
            </a:lvl2pPr>
            <a:lvl3pPr indent="-742950" lvl="2" marL="137160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Char char="•"/>
              <a:defRPr sz="8100"/>
            </a:lvl3pPr>
            <a:lvl4pPr indent="-660400" lvl="3" marL="18288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–"/>
              <a:defRPr sz="6800"/>
            </a:lvl4pPr>
            <a:lvl5pPr indent="-660400" lvl="4" marL="22860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»"/>
              <a:defRPr sz="6800"/>
            </a:lvl5pPr>
            <a:lvl6pPr indent="-660400" lvl="5" marL="27432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6pPr>
            <a:lvl7pPr indent="-660400" lvl="6" marL="32004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7pPr>
            <a:lvl8pPr indent="-660400" lvl="7" marL="36576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8pPr>
            <a:lvl9pPr indent="-660400" lvl="8" marL="411480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Char char="•"/>
              <a:defRPr sz="68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080136" y="6780850"/>
            <a:ext cx="7107139" cy="221652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1pPr>
            <a:lvl2pPr indent="-228600" lvl="1" marL="91440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2pPr>
            <a:lvl3pPr indent="-228600" lvl="2" marL="1371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234280" y="22682835"/>
            <a:ext cx="12961620" cy="2677837"/>
          </a:xfrm>
          <a:prstGeom prst="rect">
            <a:avLst/>
          </a:prstGeom>
          <a:noFill/>
          <a:ln>
            <a:noFill/>
          </a:ln>
        </p:spPr>
        <p:txBody>
          <a:bodyPr anchorCtr="0" anchor="b" bIns="154300" lIns="308600" spcFirstLastPara="1" rIns="308600" wrap="square" tIns="1543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Calibri"/>
              <a:buNone/>
              <a:defRPr b="1" sz="6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4234280" y="2895362"/>
            <a:ext cx="12961620" cy="1944243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234280" y="25360672"/>
            <a:ext cx="12961620" cy="3802973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1pPr>
            <a:lvl2pPr indent="-228600" lvl="1" marL="91440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chemeClr val="dk1"/>
              </a:buClr>
              <a:buSzPts val="4100"/>
              <a:buNone/>
              <a:defRPr sz="4100"/>
            </a:lvl2pPr>
            <a:lvl3pPr indent="-228600" lvl="2" marL="137160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08763" y="8532320"/>
            <a:ext cx="21385175" cy="19442430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-22577819" y="65708217"/>
            <a:ext cx="130643826" cy="1148393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45725712" y="54404303"/>
            <a:ext cx="130643826" cy="34091761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080135" y="1297665"/>
            <a:ext cx="19442430" cy="540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Calibri"/>
              <a:buNone/>
              <a:defRPr b="0" i="0" sz="14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080135" y="7560947"/>
            <a:ext cx="19442430" cy="21385175"/>
          </a:xfrm>
          <a:prstGeom prst="rect">
            <a:avLst/>
          </a:prstGeom>
          <a:noFill/>
          <a:ln>
            <a:noFill/>
          </a:ln>
        </p:spPr>
        <p:txBody>
          <a:bodyPr anchorCtr="0" anchor="t" bIns="154300" lIns="308600" spcFirstLastPara="1" rIns="308600" wrap="square" tIns="154300">
            <a:normAutofit/>
          </a:bodyPr>
          <a:lstStyle>
            <a:lvl1pPr indent="-914400" lvl="0" marL="457200" marR="0" rtl="0" algn="l">
              <a:lnSpc>
                <a:spcPct val="100000"/>
              </a:lnSpc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/>
              <a:buChar char="•"/>
              <a:defRPr b="0" i="0" sz="10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31850" lvl="1" marL="9144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–"/>
              <a:defRPr b="0" i="0" sz="9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742950" lvl="2" marL="1371600" marR="0" rtl="0" algn="l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b="0" i="0" sz="8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660400" lvl="3" marL="18288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–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660400" lvl="4" marL="22860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»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660400" lvl="5" marL="27432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660400" lvl="6" marL="32004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660400" lvl="7" marL="36576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660400" lvl="8" marL="4114800" marR="0" rtl="0" algn="l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b="0" i="0" sz="6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0801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7380923" y="30033756"/>
            <a:ext cx="6840855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5481935" y="30033756"/>
            <a:ext cx="5040630" cy="172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154300" lIns="308600" spcFirstLastPara="1" rIns="308600" wrap="square" tIns="1543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  <a:defRPr b="0" i="0" sz="4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834450" y="228925"/>
            <a:ext cx="13698300" cy="246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7800" lIns="95625" spcFirstLastPara="1" rIns="95625" wrap="square" tIns="47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53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6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K. J. SOMAIYA INSTITUTE OF TECHNOLOGY</a:t>
            </a:r>
            <a:endParaRPr b="1" i="0" sz="6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Artificial Intelligence and Data Science</a:t>
            </a:r>
            <a:endParaRPr b="1" i="0" sz="4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5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66130" y="675267"/>
            <a:ext cx="1885677" cy="1399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" name="Google Shape;86;p1"/>
          <p:cNvCxnSpPr/>
          <p:nvPr/>
        </p:nvCxnSpPr>
        <p:spPr>
          <a:xfrm>
            <a:off x="0" y="2980626"/>
            <a:ext cx="21602700" cy="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" name="Google Shape;87;p1"/>
          <p:cNvSpPr txBox="1"/>
          <p:nvPr/>
        </p:nvSpPr>
        <p:spPr>
          <a:xfrm>
            <a:off x="987325" y="3267075"/>
            <a:ext cx="19670100" cy="21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7800" lIns="95625" spcFirstLastPara="1" rIns="95625" wrap="square" tIns="47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6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Title </a:t>
            </a:r>
            <a:endParaRPr b="0" i="0" sz="6000" u="none" cap="none" strike="noStrike">
              <a:solidFill>
                <a:schemeClr val="dk1"/>
              </a:solidFill>
              <a:latin typeface="Marcellus"/>
              <a:ea typeface="Marcellus"/>
              <a:cs typeface="Marcellus"/>
              <a:sym typeface="Marcell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 1, Student Name 2, Student Name 3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998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</a:pPr>
            <a:r>
              <a:rPr b="0" i="0" lang="en-US" sz="3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 Faculty Name </a:t>
            </a:r>
            <a:endParaRPr b="0" i="0" sz="3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8" name="Google Shape;88;p1"/>
          <p:cNvCxnSpPr/>
          <p:nvPr/>
        </p:nvCxnSpPr>
        <p:spPr>
          <a:xfrm flipH="1" rot="10800000">
            <a:off x="888175" y="5979325"/>
            <a:ext cx="19929000" cy="10800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flipH="1" rot="10800000">
            <a:off x="10747750" y="5976875"/>
            <a:ext cx="50100" cy="25508400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0" name="Google Shape;90;p1"/>
          <p:cNvSpPr/>
          <p:nvPr/>
        </p:nvSpPr>
        <p:spPr>
          <a:xfrm>
            <a:off x="987325" y="6216575"/>
            <a:ext cx="9528300" cy="25251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0" lIns="360000" spcFirstLastPara="1" rIns="360000" wrap="square" tIns="360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Marcellus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0" i="0" sz="61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Particle Swarm Optimization (PSO) is an optimization solution, utilizing a swarm of particles to dynamically explore solution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b="1" i="0" sz="14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Industrial Internet of Things 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1: Effect unplanned downtime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  <a:endParaRPr b="0" i="0" sz="14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6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and evaluate PSO-driven classifiers, 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Admin\Desktop\Red Rect.png"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87579" y="31485975"/>
            <a:ext cx="9003549" cy="917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dmin\Desktop\Red Rect.png" id="92" name="Google Shape;9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19027025" y="29808625"/>
            <a:ext cx="4300800" cy="85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dmin\Desktop\Orange rect.png" id="93" name="Google Shape;93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5477" y="31486163"/>
            <a:ext cx="1170947" cy="917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" title="Fig 1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53600" y="11298525"/>
            <a:ext cx="9003550" cy="537661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" name="Google Shape;95;p1"/>
          <p:cNvSpPr/>
          <p:nvPr/>
        </p:nvSpPr>
        <p:spPr>
          <a:xfrm>
            <a:off x="11264600" y="6218050"/>
            <a:ext cx="9528300" cy="2525107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0000" lIns="360000" spcFirstLastPara="1" rIns="360000" wrap="square" tIns="3600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</a:t>
            </a:r>
            <a:endParaRPr b="1" i="0" sz="4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Particle Swarm Optimization (PSO) is</a:t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2: Proposed Methodology</a:t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and Discussion</a:t>
            </a:r>
            <a:endParaRPr b="1" i="0" sz="4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Particle Swarm Optimization (PSO)</a:t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1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3: Comparison of PSO driven Classifiers with previous reported work</a:t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14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PSO driven classifiers SVM, DT, KNN, LR and NN showed remarkable performance, with accuracy of 98.15%, 100.00%, 99.55%, 99.35%, and 99.65%. 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Achievements</a:t>
            </a:r>
            <a:endParaRPr b="1" i="0" sz="4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(Write details of Hackathon/ Prize/Rank/Publication details/ </a:t>
            </a:r>
            <a:r>
              <a:rPr b="0" i="0" lang="en-US" sz="2800" u="none" cap="none" strike="noStrike">
                <a:solidFill>
                  <a:schemeClr val="dk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If no achievement delete this Tab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b="1" i="0" sz="40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Acknowledgement</a:t>
            </a:r>
            <a:endParaRPr b="0" i="0" sz="14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work is supported by K. J. Somaiya Institute of Technology.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b="1" i="0" sz="4000" u="none" cap="none" strike="noStrik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H. Kamel, “Artificial intelligence for predictive maintenance,”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 Phys. Conf. Ser.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2299, no. 1, p. 012001, Jul. 2022.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B. Ghasemkhani, O. Aktas, and D. Birant, “Balanced K-Star: An Explainable Machine Learning Method for Internet-of-Things-Enabled Predictive Maintenance in Manufacturing,” </a:t>
            </a:r>
            <a:r>
              <a:rPr b="0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Machines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11, no. 3, Mar. 2023. 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39173775" y="6642000"/>
            <a:ext cx="216951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00"/>
              <a:buFont typeface="Arial"/>
              <a:buNone/>
            </a:pPr>
            <a:r>
              <a:t/>
            </a:r>
            <a:endParaRPr b="0" i="0" sz="10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0253" y="675275"/>
            <a:ext cx="4124066" cy="13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